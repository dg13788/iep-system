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00" y="1714500"/>
            <a:ext cx="10287000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启智IEP管理系统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2524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2762250"/>
            <a:ext cx="9525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C8A45C"/>
                </a:solidFill>
                <a:latin typeface="Microsoft YaHei"/>
              </a:rPr>
              <a:t>国际一流标准 · 特殊教育数字化管理平台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4572000"/>
            <a:ext cx="2286000" cy="457200"/>
          </a:xfrm>
          <a:prstGeom prst="rect">
            <a:avLst/>
          </a:prstGeom>
          <a:noFill/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500" y="4610100"/>
            <a:ext cx="2286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C8A45C"/>
                </a:solidFill>
                <a:latin typeface="Microsoft YaHei"/>
              </a:rPr>
              <a:t>国际标准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500" y="4572000"/>
            <a:ext cx="2286000" cy="457200"/>
          </a:xfrm>
          <a:prstGeom prst="rect">
            <a:avLst/>
          </a:prstGeom>
          <a:noFill/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1500" y="4610100"/>
            <a:ext cx="2286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C8A45C"/>
                </a:solidFill>
                <a:latin typeface="Microsoft YaHei"/>
              </a:rPr>
              <a:t>安全至上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0500" y="4572000"/>
            <a:ext cx="2286000" cy="457200"/>
          </a:xfrm>
          <a:prstGeom prst="rect">
            <a:avLst/>
          </a:prstGeom>
          <a:noFill/>
          <a:ln w="19050">
            <a:solidFill>
              <a:srgbClr val="C8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0500" y="4610100"/>
            <a:ext cx="2286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C8A45C"/>
                </a:solidFill>
                <a:latin typeface="Microsoft YaHei"/>
              </a:rPr>
              <a:t>数据驱动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特殊教育数字化转型的迫切需求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33500"/>
            <a:ext cx="47625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</a:rPr>
              <a:t>政策驱动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762125"/>
            <a:ext cx="47625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8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《残疾人教育条例》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999999"/>
                </a:solidFill>
                <a:latin typeface="Microsoft YaHei"/>
              </a:rPr>
              <a:t>推进特殊教育信息化</a:t>
            </a:r>
          </a:p>
          <a:p>
            <a:pPr>
              <a:spcAft>
                <a:spcPts val="48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特殊教育数字化转型的迫切需求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33500"/>
            <a:ext cx="47625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</a:rPr>
              <a:t>政策驱动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762125"/>
            <a:ext cx="4762500" cy="190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8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《残疾人教育条例》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999999"/>
                </a:solidFill>
                <a:latin typeface="Microsoft YaHei"/>
              </a:rPr>
              <a:t>推进特殊教育信息化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《特殊教育提升计划》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999999"/>
                </a:solidFill>
                <a:latin typeface="Microsoft YaHei"/>
              </a:rPr>
              <a:t>明确IEP管理数字化要求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《十四五特殊教育发展提升行动计划》</a:t>
            </a:r>
          </a:p>
          <a:p>
            <a:pPr>
              <a:spcAft>
                <a:spcPts val="480"/>
              </a:spcAft>
            </a:pPr>
            <a:r>
              <a:rPr sz="1600" b="0">
                <a:solidFill>
                  <a:srgbClr val="999999"/>
                </a:solidFill>
                <a:latin typeface="Microsoft YaHei"/>
              </a:rPr>
              <a:t>建立学生发展数据库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1250" y="1333500"/>
            <a:ext cx="523875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</a:rPr>
              <a:t>传统IEP管理四大困境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1250" y="1762125"/>
            <a:ext cx="381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8A45C"/>
                </a:solidFill>
                <a:latin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72250" y="1762125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纸质档案管理低效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2250" y="20288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IEP档案堆积，查找困难，版本混乱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1250" y="2524125"/>
            <a:ext cx="381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8A45C"/>
                </a:solidFill>
                <a:latin typeface="Microsoft YaHe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2250" y="2524125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数据安全隐患大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2250" y="27908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学生隐私缺乏保护，泄露风险高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1250" y="3286125"/>
            <a:ext cx="381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8A45C"/>
                </a:solidFill>
                <a:latin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2250" y="3286125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家校协作断层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72250" y="35528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家长参与度低，签名审批流程冗长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0" y="4048125"/>
            <a:ext cx="381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8A45C"/>
                </a:solidFill>
                <a:latin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2250" y="4048125"/>
            <a:ext cx="3810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缺乏过程追踪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2250" y="43148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目标执行缺乏监控，效果难以量化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5524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1E3A5F"/>
                </a:solidFill>
                <a:latin typeface="Microsoft YaHei"/>
              </a:rPr>
              <a:t>特殊教育的每一次进步，都始于一份科学、精准、可执行的IEP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启智IEP —— 世界一流标准，国内绝对领先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238250"/>
            <a:ext cx="1047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666666"/>
                </a:solidFill>
                <a:latin typeface="Microsoft YaHei"/>
              </a:rPr>
              <a:t>国内首款全功能、国际化、数据安全驱动的IEP管理平台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905000"/>
            <a:ext cx="285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8A45C"/>
                </a:solidFill>
                <a:latin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905000"/>
            <a:ext cx="4381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国际标准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238375"/>
            <a:ext cx="4381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对标美国IDEA法案、英国SEN Code of Practice，融合国际最佳实践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952750"/>
            <a:ext cx="43815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0" y="1905000"/>
            <a:ext cx="285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8A45C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72250" y="1905000"/>
            <a:ext cx="4381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合规保障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72250" y="2238375"/>
            <a:ext cx="4381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符合中国特殊教育政策法规 + 《个人信息保护法》数据安全要求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2250" y="2952750"/>
            <a:ext cx="43815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000" y="3810000"/>
            <a:ext cx="285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8A45C"/>
                </a:solidFill>
                <a:latin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810000"/>
            <a:ext cx="4381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权限隔离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43375"/>
            <a:ext cx="4381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行业领先的数据权限体系，5级数据范围控制，确保数据绝对安全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1250" y="3810000"/>
            <a:ext cx="285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C8A45C"/>
                </a:solidFill>
                <a:latin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2250" y="3810000"/>
            <a:ext cx="4381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全流程管理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2250" y="4143375"/>
            <a:ext cx="43815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从评估到制定到执行到追踪，IEP全生命周期数字化闭环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5715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59055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999999"/>
                </a:solidFill>
                <a:latin typeface="Microsoft YaHei"/>
              </a:rPr>
              <a:t>React 19 + TypeScript + PHP 8.x  前后端分离现代技术架构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八大核心模块，覆盖IEP全业务场景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240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4875" y="16668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04875" y="19526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仪表盘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875" y="22860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数据统计可视化、雷达图分析、快捷操作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4250" y="15240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67125" y="16668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67125" y="19526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学生管理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7125" y="22860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完整学生档案、班级归属管理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6500" y="15240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9375" y="16668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9375" y="19526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评估管理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9375" y="22860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7大能力领域评估、跨期对比分析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8750" y="15240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1625" y="16668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1625" y="19526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IEP管理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1625" y="22860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5步向导式制定、目标追踪、电子签名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36195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875" y="37623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875" y="40481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教学记录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875" y="43815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快速记录教学进展、日历视图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4250" y="36195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67125" y="37623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67125" y="40481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模板管理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7125" y="43815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标准化模板库、灵活自定义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6500" y="36195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9375" y="37623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9375" y="40481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家校协作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9375" y="43815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家长签名、消息沟通、通知推送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8750" y="3619500"/>
            <a:ext cx="2476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91625" y="3762375"/>
            <a:ext cx="381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1625" y="4048125"/>
            <a:ext cx="2190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系统管理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91625" y="4381500"/>
            <a:ext cx="219075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权限组配置、操作审计日志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科学完善的IEP全生命周期管理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1500" y="1476375"/>
            <a:ext cx="381000" cy="3810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99999"/>
                </a:solidFill>
                <a:latin typeface="Microsoft YaHei"/>
              </a:rPr>
              <a:t>草稿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000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95500" y="1476375"/>
            <a:ext cx="381000" cy="381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47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90D9"/>
                </a:solidFill>
                <a:latin typeface="Microsoft YaHei"/>
              </a:rPr>
              <a:t>审核中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500" y="1476375"/>
            <a:ext cx="381000" cy="381000"/>
          </a:xfrm>
          <a:prstGeom prst="ellipse">
            <a:avLst/>
          </a:prstGeom>
          <a:solidFill>
            <a:srgbClr val="5BA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1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BA85E"/>
                </a:solidFill>
                <a:latin typeface="Microsoft YaHei"/>
              </a:rPr>
              <a:t>已通过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48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3500" y="1476375"/>
            <a:ext cx="381000" cy="3810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5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B59B6"/>
                </a:solidFill>
                <a:latin typeface="Microsoft YaHei"/>
              </a:rPr>
              <a:t>已签名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72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7500" y="1476375"/>
            <a:ext cx="381000" cy="38100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19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68A00"/>
                </a:solidFill>
                <a:latin typeface="Microsoft YaHei"/>
              </a:rPr>
              <a:t>执行中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96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1500" y="1476375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3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E7D32"/>
                </a:solidFill>
                <a:latin typeface="Microsoft YaHei"/>
              </a:rPr>
              <a:t>已完成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20125" y="1600200"/>
            <a:ext cx="1000125" cy="13335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5500" y="1476375"/>
            <a:ext cx="381000" cy="381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67875" y="1952625"/>
            <a:ext cx="476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E3A5F"/>
                </a:solidFill>
                <a:latin typeface="Microsoft YaHei"/>
              </a:rPr>
              <a:t>已归档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2667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2952750"/>
            <a:ext cx="4762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</a:rPr>
              <a:t>5步向导式IEP制定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500" y="3429000"/>
            <a:ext cx="95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Step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5000" y="342900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</a:rPr>
              <a:t>学生基本信息与背景资料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500" y="3952875"/>
            <a:ext cx="95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Step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05000" y="3952875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</a:rPr>
              <a:t>7大能力领域评估结果导入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500" y="4476750"/>
            <a:ext cx="95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Step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5000" y="447675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</a:rPr>
              <a:t>SMART目标设定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500" y="5000625"/>
            <a:ext cx="95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Step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5000" y="5000625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</a:rPr>
              <a:t>教学策略与支持服务配置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500" y="5524500"/>
            <a:ext cx="95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C8A45C"/>
                </a:solidFill>
                <a:latin typeface="Microsoft YaHei"/>
              </a:rPr>
              <a:t>Step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5000" y="552450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</a:rPr>
              <a:t>家长签名确认与审批发布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6096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2000" y="62865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E3A5F"/>
                </a:solidFill>
                <a:latin typeface="Microsoft YaHei"/>
              </a:rPr>
              <a:t>向导式流程让每位教师都能轻松制定专业级IEP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7大能力领域多维度评估体系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33500"/>
            <a:ext cx="285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7大评估领域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1819275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500" y="1762125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认知能力</a:t>
            </a:r>
          </a:p>
        </p:txBody>
      </p:sp>
      <p:sp>
        <p:nvSpPr>
          <p:cNvPr id="8" name="Oval 7"/>
          <p:cNvSpPr/>
          <p:nvPr/>
        </p:nvSpPr>
        <p:spPr>
          <a:xfrm>
            <a:off x="762000" y="2247900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2500" y="2190750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沟通能力</a:t>
            </a:r>
          </a:p>
        </p:txBody>
      </p:sp>
      <p:sp>
        <p:nvSpPr>
          <p:cNvPr id="10" name="Oval 9"/>
          <p:cNvSpPr/>
          <p:nvPr/>
        </p:nvSpPr>
        <p:spPr>
          <a:xfrm>
            <a:off x="762000" y="2676525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2500" y="2619375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社交能力</a:t>
            </a:r>
          </a:p>
        </p:txBody>
      </p:sp>
      <p:sp>
        <p:nvSpPr>
          <p:cNvPr id="12" name="Oval 11"/>
          <p:cNvSpPr/>
          <p:nvPr/>
        </p:nvSpPr>
        <p:spPr>
          <a:xfrm>
            <a:off x="762000" y="3105150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2500" y="3048000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生活自理能力</a:t>
            </a:r>
          </a:p>
        </p:txBody>
      </p:sp>
      <p:sp>
        <p:nvSpPr>
          <p:cNvPr id="14" name="Oval 13"/>
          <p:cNvSpPr/>
          <p:nvPr/>
        </p:nvSpPr>
        <p:spPr>
          <a:xfrm>
            <a:off x="762000" y="3533775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2500" y="3476625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运动能力</a:t>
            </a:r>
          </a:p>
        </p:txBody>
      </p:sp>
      <p:sp>
        <p:nvSpPr>
          <p:cNvPr id="16" name="Oval 15"/>
          <p:cNvSpPr/>
          <p:nvPr/>
        </p:nvSpPr>
        <p:spPr>
          <a:xfrm>
            <a:off x="762000" y="3962400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500" y="3905250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情绪行为能力</a:t>
            </a:r>
          </a:p>
        </p:txBody>
      </p:sp>
      <p:sp>
        <p:nvSpPr>
          <p:cNvPr id="18" name="Oval 17"/>
          <p:cNvSpPr/>
          <p:nvPr/>
        </p:nvSpPr>
        <p:spPr>
          <a:xfrm>
            <a:off x="762000" y="4391025"/>
            <a:ext cx="95250" cy="9525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500" y="4333875"/>
            <a:ext cx="23812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学业能力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0" y="1333500"/>
            <a:ext cx="6667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核心功能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2500" y="1762125"/>
            <a:ext cx="666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· 标准化量表评估与教师观察评估双模式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0" y="2238375"/>
            <a:ext cx="666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· 跨期评估对比：自动生成趋势图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0" y="2714625"/>
            <a:ext cx="666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· 评估结果自动关联IEP目标设定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0" y="3190875"/>
            <a:ext cx="666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· 支持评估报告PDF导出与打印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5524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5715000"/>
            <a:ext cx="10668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C8A45C"/>
                </a:solidFill>
                <a:latin typeface="Microsoft YaHei"/>
              </a:rPr>
              <a:t>500+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6238875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66666"/>
                </a:solidFill>
                <a:latin typeface="Microsoft YaHei"/>
              </a:rPr>
              <a:t>每名学生最多可追踪的细分能力指标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23875"/>
            <a:ext cx="1524000" cy="3048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52450"/>
            <a:ext cx="1524000" cy="247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核心优势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047750"/>
            <a:ext cx="104775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数据权限隔离 —— 系统安全的铜墙铁壁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19250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905000"/>
            <a:ext cx="6667500" cy="1428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79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每个角色只能看到「自己应该看到的数据」</a:t>
            </a:r>
          </a:p>
          <a:p>
            <a:pPr>
              <a:spcAft>
                <a:spcPts val="679"/>
              </a:spcAft>
            </a:pPr>
            <a:r>
              <a:rPr sz="1700" b="0">
                <a:solidFill>
                  <a:srgbClr val="AAAAAA"/>
                </a:solidFill>
                <a:latin typeface="Microsoft YaHei"/>
              </a:rPr>
              <a:t>后端 applyDataScope 自动追加SQL过滤条件</a:t>
            </a:r>
          </a:p>
          <a:p>
            <a:pPr>
              <a:spcAft>
                <a:spcPts val="679"/>
              </a:spcAft>
            </a:pPr>
            <a:r>
              <a:rPr sz="1700" b="0">
                <a:solidFill>
                  <a:srgbClr val="AAAAAA"/>
                </a:solidFill>
                <a:latin typeface="Microsoft YaHei"/>
              </a:rPr>
              <a:t>前端 filterByDataScope 统一数据过滤</a:t>
            </a:r>
          </a:p>
          <a:p>
            <a:pPr>
              <a:spcAft>
                <a:spcPts val="679"/>
              </a:spcAft>
            </a:pPr>
            <a:r>
              <a:rPr sz="1700" b="0">
                <a:solidFill>
                  <a:srgbClr val="AAAAAA"/>
                </a:solidFill>
                <a:latin typeface="Microsoft YaHei"/>
              </a:rPr>
              <a:t>数据访问审计日志全程留痕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10000"/>
            <a:ext cx="3238500" cy="47625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3857625"/>
            <a:ext cx="3238500" cy="1238250"/>
          </a:xfrm>
          <a:prstGeom prst="rect">
            <a:avLst/>
          </a:prstGeom>
          <a:solidFill>
            <a:srgbClr val="1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4875" y="4000500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C83C3C"/>
                </a:solidFill>
                <a:latin typeface="Microsoft YaHei"/>
              </a:rPr>
              <a:t>传统系统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875" y="433387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所有教师可见全校学生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4875" y="461962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AAAAAA"/>
                </a:solidFill>
                <a:latin typeface="Microsoft YaHei"/>
              </a:rPr>
              <a:t>隐私泄露风险极高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3810000"/>
            <a:ext cx="3238500" cy="47625"/>
          </a:xfrm>
          <a:prstGeom prst="rect">
            <a:avLst/>
          </a:prstGeom>
          <a:solidFill>
            <a:srgbClr val="D49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1500" y="3857625"/>
            <a:ext cx="3238500" cy="1238250"/>
          </a:xfrm>
          <a:prstGeom prst="rect">
            <a:avLst/>
          </a:prstGeom>
          <a:solidFill>
            <a:srgbClr val="1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4375" y="4000500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D4930D"/>
                </a:solidFill>
                <a:latin typeface="Microsoft YaHei"/>
              </a:rPr>
              <a:t>普通系统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4375" y="433387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简单角色权限控制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4375" y="461962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AAAAAA"/>
                </a:solidFill>
                <a:latin typeface="Microsoft YaHei"/>
              </a:rPr>
              <a:t>数据范围无法精细化管理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810000"/>
            <a:ext cx="3238500" cy="47625"/>
          </a:xfrm>
          <a:prstGeom prst="rect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3857625"/>
            <a:ext cx="3238500" cy="1238250"/>
          </a:xfrm>
          <a:prstGeom prst="rect">
            <a:avLst/>
          </a:prstGeom>
          <a:solidFill>
            <a:srgbClr val="1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3875" y="4000500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D8B6D"/>
                </a:solidFill>
                <a:latin typeface="Microsoft YaHei"/>
              </a:rPr>
              <a:t>启智IEP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3875" y="433387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5级数据范围 + IEP级别控制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875" y="4619625"/>
            <a:ext cx="2952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AAAAAA"/>
                </a:solidFill>
                <a:latin typeface="Microsoft YaHei"/>
              </a:rPr>
              <a:t>每个角色精准授权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7150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88888"/>
                </a:solidFill>
                <a:latin typeface="Microsoft YaHei"/>
              </a:rPr>
              <a:t>符合《个人信息保护法》第28条关于敏感个人信息处理的特别规定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5级数据范围控制 · 精细化权限矩阵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24000"/>
            <a:ext cx="9525000" cy="4762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619250"/>
            <a:ext cx="1524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数据范围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1925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可见数据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0" y="161925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适用角色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0" y="1619250"/>
            <a:ext cx="1524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安全等级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002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095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全部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1250" y="2095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全校所有学生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9750" y="2095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校长、特教主管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8250" y="2095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L1最高管控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2476500"/>
            <a:ext cx="952500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25717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本班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1250" y="25717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本班级所有学生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9750" y="25717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班主任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8250" y="25717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L2严格管控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29527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250" y="30480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所教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1250" y="30480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自己任教的学生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19750" y="30480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科任教师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8250" y="30480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L3标准管控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3429000"/>
            <a:ext cx="952500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7250" y="35242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自己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1250" y="35242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仅自己负责的数据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9750" y="35242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家长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8250" y="35242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L4限制管控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39052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7250" y="4000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250" y="4000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无任何数据权限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19750" y="4000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未授权用户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58250" y="4000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L5完全隔离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000" y="5334000"/>
            <a:ext cx="10477500" cy="952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5级数据范围控制 · 精细化权限矩阵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24000"/>
            <a:ext cx="9525000" cy="4762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619250"/>
            <a:ext cx="1524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数据范围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1925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可见数据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0" y="1619250"/>
            <a:ext cx="3238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适用角色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0" y="1619250"/>
            <a:ext cx="1524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安全等级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20002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095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全部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1250" y="2095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全校所有学生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9750" y="2095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校长、特教主管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8250" y="2095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L1最高管控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2476500"/>
            <a:ext cx="952500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25717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本班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1250" y="25717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本班级所有学生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9750" y="25717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班主任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8250" y="25717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L2严格管控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29527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250" y="30480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所教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1250" y="30480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自己任教的学生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19750" y="30480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科任教师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8250" y="30480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L3标准管控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3429000"/>
            <a:ext cx="952500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7250" y="35242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自己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1250" y="35242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仅自己负责的数据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9750" y="352425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家长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8250" y="352425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L4限制管控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2000" y="3905250"/>
            <a:ext cx="9525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7250" y="4000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250" y="4000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无任何数据权限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19750" y="4000500"/>
            <a:ext cx="304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未授权用户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58250" y="4000500"/>
            <a:ext cx="1333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</a:rPr>
              <a:t>L5完全隔离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000" y="5381625"/>
            <a:ext cx="1047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技术实现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2500" y="5715000"/>
            <a:ext cx="10096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· 后端 applyDataScope() 自动追加 SQL WHERE 条件 · 前端 filterByDataScope() 统一过滤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500" y="6000750"/>
            <a:ext cx="10096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· 权限变更实时生效，无需重新登录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不同角色能看到什么？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24000"/>
            <a:ext cx="1714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校长/特教主管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1524000"/>
            <a:ext cx="762000" cy="266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0" y="1543050"/>
            <a:ext cx="762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</a:rPr>
              <a:t>全部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154305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统计报表 · 所有IEP · 所有评估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952625"/>
            <a:ext cx="95250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571750"/>
            <a:ext cx="1714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班主任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2571750"/>
            <a:ext cx="762000" cy="266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7000" y="2590800"/>
            <a:ext cx="762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</a:rPr>
              <a:t>本班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9500" y="259080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本班学生档案 · 本班IEP制定与审核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000375"/>
            <a:ext cx="95250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3619500"/>
            <a:ext cx="1714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科任教师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3619500"/>
            <a:ext cx="762000" cy="266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3638550"/>
            <a:ext cx="762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</a:rPr>
              <a:t>所教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9500" y="363855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自己负责的教学目标 · 看不到其他科任目标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4048125"/>
            <a:ext cx="95250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4667250"/>
            <a:ext cx="1714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家长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7000" y="4667250"/>
            <a:ext cx="762000" cy="266700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67000" y="4686300"/>
            <a:ext cx="7620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自己孩子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9500" y="468630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仅自己孩子的数据 · 绝对看不到其他学生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095875"/>
            <a:ext cx="9525000" cy="952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6096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62865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1E3A5F"/>
                </a:solidFill>
                <a:latin typeface="Microsoft YaHei"/>
              </a:rPr>
              <a:t>每一个角色都是一道安全边界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IEP级别权限控制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238250"/>
            <a:ext cx="762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666666"/>
                </a:solidFill>
                <a:latin typeface="Microsoft YaHei"/>
              </a:rPr>
              <a:t>一份IEP包含多个教学目标，不同科任教师负责不同目标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1809750"/>
            <a:ext cx="7620000" cy="2857500"/>
          </a:xfrm>
          <a:prstGeom prst="rect">
            <a:avLst/>
          </a:prstGeom>
          <a:solidFill>
            <a:srgbClr val="F8F8F8"/>
          </a:solidFill>
          <a:ln w="254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95500" y="1905000"/>
            <a:ext cx="3810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IEP 文档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0750" y="2381250"/>
            <a:ext cx="20955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524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语文目标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0512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责任人：李老师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19087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D8B6D"/>
                </a:solidFill>
                <a:latin typeface="Microsoft YaHei"/>
              </a:rPr>
              <a:t>状态：可编辑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0" y="3619500"/>
            <a:ext cx="114300" cy="114300"/>
          </a:xfrm>
          <a:prstGeom prst="ellipse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7450" y="3590925"/>
            <a:ext cx="14287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D8B6D"/>
                </a:solidFill>
                <a:latin typeface="Microsoft YaHei"/>
              </a:rPr>
              <a:t>独立权限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81250"/>
            <a:ext cx="20955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7250" y="2524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数学目标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7250" y="290512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责任人：王老师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7250" y="319087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D8B6D"/>
                </a:solidFill>
                <a:latin typeface="Microsoft YaHei"/>
              </a:rPr>
              <a:t>状态：可编辑</a:t>
            </a:r>
          </a:p>
        </p:txBody>
      </p:sp>
      <p:sp>
        <p:nvSpPr>
          <p:cNvPr id="18" name="Oval 17"/>
          <p:cNvSpPr/>
          <p:nvPr/>
        </p:nvSpPr>
        <p:spPr>
          <a:xfrm>
            <a:off x="4667250" y="3619500"/>
            <a:ext cx="114300" cy="114300"/>
          </a:xfrm>
          <a:prstGeom prst="ellipse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38700" y="3590925"/>
            <a:ext cx="14287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D8B6D"/>
                </a:solidFill>
                <a:latin typeface="Microsoft YaHei"/>
              </a:rPr>
              <a:t>独立权限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3250" y="2381250"/>
            <a:ext cx="20955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8500" y="2524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社交目标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8500" y="290512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责任人：赵老师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8500" y="3190875"/>
            <a:ext cx="190500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D8B6D"/>
                </a:solidFill>
                <a:latin typeface="Microsoft YaHei"/>
              </a:rPr>
              <a:t>状态：可编辑</a:t>
            </a:r>
          </a:p>
        </p:txBody>
      </p:sp>
      <p:sp>
        <p:nvSpPr>
          <p:cNvPr id="24" name="Oval 23"/>
          <p:cNvSpPr/>
          <p:nvPr/>
        </p:nvSpPr>
        <p:spPr>
          <a:xfrm>
            <a:off x="7048500" y="3619500"/>
            <a:ext cx="114300" cy="114300"/>
          </a:xfrm>
          <a:prstGeom prst="ellipse">
            <a:avLst/>
          </a:prstGeom>
          <a:solidFill>
            <a:srgbClr val="0D8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19950" y="3590925"/>
            <a:ext cx="14287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0D8B6D"/>
                </a:solidFill>
                <a:latin typeface="Microsoft YaHei"/>
              </a:rPr>
              <a:t>独立权限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" y="5381625"/>
            <a:ext cx="1047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核心机制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500" y="5715000"/>
            <a:ext cx="10096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· 角色级IEP级别控制：科任教师可参与，但只能操作自己负责的目标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500" y="6000750"/>
            <a:ext cx="10096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· 目标级读写权限分离：可看全局目标，只能写自己的目标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2500" y="6286500"/>
            <a:ext cx="10096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· 教学记录自动关联对应目标，责任到人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不硬编码 · 自由配置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33500"/>
            <a:ext cx="381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6个内置权限组（开箱即用）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80975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82880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全部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8375" y="182880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超级管理员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6250" y="180975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6250" y="182880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全部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2625" y="182880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校长/特教主管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500" y="180975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0500" y="182880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本班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6875" y="182880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班主任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247650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249555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所教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38375" y="249555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科任教师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6250" y="247650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6250" y="249555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自己孩子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2625" y="249555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家长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0500" y="2476500"/>
            <a:ext cx="1333500" cy="24765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0500" y="2495550"/>
            <a:ext cx="1333500" cy="209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</a:rPr>
              <a:t>全部只读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6875" y="249555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只读用户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3810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4048125"/>
            <a:ext cx="5715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三维权限控制模型</a:t>
            </a:r>
          </a:p>
        </p:txBody>
      </p:sp>
      <p:sp>
        <p:nvSpPr>
          <p:cNvPr id="26" name="Oval 25"/>
          <p:cNvSpPr/>
          <p:nvPr/>
        </p:nvSpPr>
        <p:spPr>
          <a:xfrm>
            <a:off x="762000" y="4524375"/>
            <a:ext cx="342900" cy="3429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" y="4562475"/>
            <a:ext cx="3429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0625" y="4524375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功能权限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90625" y="4829175"/>
            <a:ext cx="285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哪些菜单/按钮可以访问</a:t>
            </a:r>
          </a:p>
        </p:txBody>
      </p:sp>
      <p:sp>
        <p:nvSpPr>
          <p:cNvPr id="30" name="Oval 29"/>
          <p:cNvSpPr/>
          <p:nvPr/>
        </p:nvSpPr>
        <p:spPr>
          <a:xfrm>
            <a:off x="4381500" y="4524375"/>
            <a:ext cx="342900" cy="3429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1500" y="4562475"/>
            <a:ext cx="3429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0125" y="4524375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数据范围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0125" y="4829175"/>
            <a:ext cx="285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全部 / 本班 / 所教 / 自己 / 无</a:t>
            </a:r>
          </a:p>
        </p:txBody>
      </p:sp>
      <p:sp>
        <p:nvSpPr>
          <p:cNvPr id="34" name="Oval 33"/>
          <p:cNvSpPr/>
          <p:nvPr/>
        </p:nvSpPr>
        <p:spPr>
          <a:xfrm>
            <a:off x="8001000" y="4524375"/>
            <a:ext cx="342900" cy="3429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4562475"/>
            <a:ext cx="3429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9625" y="4524375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  <a:latin typeface="Microsoft YaHei"/>
              </a:rPr>
              <a:t>IEP级别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9625" y="4829175"/>
            <a:ext cx="2857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不参与 / 查看 / 参与制定 / 完全控制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" y="57150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E3A5F"/>
                </a:solidFill>
                <a:latin typeface="Microsoft YaHei"/>
              </a:rPr>
              <a:t>可在后台自由创建新权限组，无需修改代码 · 权限变更实时生效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SMART目标追踪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8250" y="1524000"/>
            <a:ext cx="571500" cy="5715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8250" y="1600200"/>
            <a:ext cx="57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238375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</a:rPr>
              <a:t>Specific</a:t>
            </a:r>
            <a:br/>
            <a:r>
              <a:t>具体的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762250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目标描述清晰明确</a:t>
            </a:r>
          </a:p>
        </p:txBody>
      </p:sp>
      <p:sp>
        <p:nvSpPr>
          <p:cNvPr id="9" name="Oval 8"/>
          <p:cNvSpPr/>
          <p:nvPr/>
        </p:nvSpPr>
        <p:spPr>
          <a:xfrm>
            <a:off x="3333750" y="1524000"/>
            <a:ext cx="571500" cy="5715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750" y="1600200"/>
            <a:ext cx="57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0" y="2238375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</a:rPr>
              <a:t>Measurable</a:t>
            </a:r>
            <a:br/>
            <a:r>
              <a:t>可衡量的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7500" y="2762250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量化评估指标与评分标准</a:t>
            </a:r>
          </a:p>
        </p:txBody>
      </p:sp>
      <p:sp>
        <p:nvSpPr>
          <p:cNvPr id="13" name="Oval 12"/>
          <p:cNvSpPr/>
          <p:nvPr/>
        </p:nvSpPr>
        <p:spPr>
          <a:xfrm>
            <a:off x="5429250" y="1524000"/>
            <a:ext cx="571500" cy="5715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0" y="1600200"/>
            <a:ext cx="57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0" y="2238375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</a:rPr>
              <a:t>Achievable</a:t>
            </a:r>
            <a:br/>
            <a:r>
              <a:t>可达成的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3000" y="2762250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基于评估数据的合理期望</a:t>
            </a:r>
          </a:p>
        </p:txBody>
      </p:sp>
      <p:sp>
        <p:nvSpPr>
          <p:cNvPr id="17" name="Oval 16"/>
          <p:cNvSpPr/>
          <p:nvPr/>
        </p:nvSpPr>
        <p:spPr>
          <a:xfrm>
            <a:off x="7524750" y="1524000"/>
            <a:ext cx="571500" cy="5715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600200"/>
            <a:ext cx="57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8500" y="2238375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</a:rPr>
              <a:t>Relevant</a:t>
            </a:r>
            <a:br/>
            <a:r>
              <a:t>相关的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0" y="2762250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与7大领域能力发展相关</a:t>
            </a:r>
          </a:p>
        </p:txBody>
      </p:sp>
      <p:sp>
        <p:nvSpPr>
          <p:cNvPr id="21" name="Oval 20"/>
          <p:cNvSpPr/>
          <p:nvPr/>
        </p:nvSpPr>
        <p:spPr>
          <a:xfrm>
            <a:off x="9620250" y="1524000"/>
            <a:ext cx="571500" cy="5715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20250" y="1600200"/>
            <a:ext cx="57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238375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Microsoft YaHei"/>
              </a:rPr>
              <a:t>Time-bound</a:t>
            </a:r>
            <a:br/>
            <a:r>
              <a:t>有时限的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762250"/>
            <a:ext cx="1524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66666"/>
                </a:solidFill>
                <a:latin typeface="Microsoft YaHei"/>
              </a:rPr>
              <a:t>明确起止日期与里程碑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3619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3857625"/>
            <a:ext cx="5715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教学记录功能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500" y="433387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· 日历视图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7000" y="4333875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一目了然查看每日教学记录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500" y="476250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· 快速记录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67000" y="476250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3步完成一次教学进展录入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500" y="5191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· 目标关联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7000" y="5191125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每条记录自动关联对应IEP目标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500" y="5619750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1A1A1A"/>
                </a:solidFill>
                <a:latin typeface="Microsoft YaHei"/>
              </a:rPr>
              <a:t>· 进度追踪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67000" y="5619750"/>
            <a:ext cx="571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自动生成目标完成度百分比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60960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000" y="6286500"/>
            <a:ext cx="10668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E3A5F"/>
                </a:solidFill>
                <a:latin typeface="Microsoft YaHei"/>
              </a:rPr>
              <a:t>从「凭感觉」到「看数据」，特殊教育进入精准教学时代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家校协作零距离 · Canvas电子签名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33500"/>
            <a:ext cx="47625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家校协作全流程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1762125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800225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90625" y="1800225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IEP制定完成</a:t>
            </a:r>
          </a:p>
        </p:txBody>
      </p:sp>
      <p:sp>
        <p:nvSpPr>
          <p:cNvPr id="9" name="Down Arrow 8"/>
          <p:cNvSpPr/>
          <p:nvPr/>
        </p:nvSpPr>
        <p:spPr>
          <a:xfrm>
            <a:off x="857250" y="2095500"/>
            <a:ext cx="114300" cy="17145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2000" y="2286000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2324100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0625" y="2324100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推送家长通知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7250" y="2619375"/>
            <a:ext cx="114300" cy="17145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2000" y="2809875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2847975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0625" y="2847975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家长登录查看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57250" y="3143250"/>
            <a:ext cx="114300" cy="17145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000" y="3333750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3371850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0625" y="3371850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在线讨论沟通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57250" y="3667125"/>
            <a:ext cx="114300" cy="17145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000" y="3857625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3895725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90625" y="3895725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Canvas电子签名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57250" y="4191000"/>
            <a:ext cx="114300" cy="171450"/>
          </a:xfrm>
          <a:prstGeom prst="down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000" y="4381500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000" y="4419600"/>
            <a:ext cx="3048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0625" y="4419600"/>
            <a:ext cx="3333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A1A1A"/>
                </a:solidFill>
                <a:latin typeface="Microsoft YaHei"/>
              </a:rPr>
              <a:t>IEP进入执行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333500"/>
            <a:ext cx="5715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电子签名技术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0" y="17621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· 基于Canvas手写签名技术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5500" y="2190750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· 签名数据与IEP文档绑定，不可篡改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5500" y="261937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· 支持签名历史追溯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5500" y="3048000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Microsoft YaHei"/>
              </a:rPr>
              <a:t>· 家长可随时查看已签名IEP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5143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5429250"/>
            <a:ext cx="1905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C8A45C"/>
                </a:solidFill>
                <a:latin typeface="Microsoft YaHei"/>
              </a:rPr>
              <a:t>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5000" y="5953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66666"/>
                </a:solidFill>
                <a:latin typeface="Microsoft YaHei"/>
              </a:rPr>
              <a:t>沟通响应缩短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3500" y="5429250"/>
            <a:ext cx="1905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C8A45C"/>
                </a:solidFill>
                <a:latin typeface="Microsoft YaHei"/>
              </a:rPr>
              <a:t>1天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3500" y="5953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66666"/>
                </a:solidFill>
                <a:latin typeface="Microsoft YaHei"/>
              </a:rPr>
              <a:t>签名流程耗时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0" y="5429250"/>
            <a:ext cx="1905000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C8A45C"/>
                </a:solidFill>
                <a:latin typeface="Microsoft YaHei"/>
              </a:rPr>
              <a:t>60%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2000" y="5953125"/>
            <a:ext cx="19050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66666"/>
                </a:solidFill>
                <a:latin typeface="Microsoft YaHei"/>
              </a:rPr>
              <a:t>家长满意度提升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现代技术架构 · 全链路安全保障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47750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619250"/>
            <a:ext cx="1428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C8A45C"/>
                </a:solidFill>
                <a:latin typeface="Microsoft YaHei"/>
              </a:rPr>
              <a:t>前端层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19250"/>
            <a:ext cx="571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React 19 + TypeScript + Tailwind CSS + shadcn/ui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286000"/>
            <a:ext cx="1428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C8A45C"/>
                </a:solidFill>
                <a:latin typeface="Microsoft YaHei"/>
              </a:rPr>
              <a:t>API层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571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RESTful API + JWT Token认证 + 接口限流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952750"/>
            <a:ext cx="1428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C8A45C"/>
                </a:solidFill>
                <a:latin typeface="Microsoft YaHei"/>
              </a:rPr>
              <a:t>后端层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52750"/>
            <a:ext cx="571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PHP 8.x + MySQL 8.0 + 数据权限中间件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619500"/>
            <a:ext cx="142875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C8A45C"/>
                </a:solidFill>
                <a:latin typeface="Microsoft YaHei"/>
              </a:rPr>
              <a:t>基础设施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619500"/>
            <a:ext cx="57150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HTTPS全链路加密 + 操作审计日志 + 数据备份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0" y="1619250"/>
            <a:ext cx="9525" cy="2476500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1619250"/>
            <a:ext cx="381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C8A45C"/>
                </a:solidFill>
                <a:latin typeface="Microsoft YaHei"/>
              </a:rPr>
              <a:t>安全保障体系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8500" y="204787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BBCCDD"/>
                </a:solidFill>
                <a:latin typeface="Microsoft YaHei"/>
              </a:rPr>
              <a:t>· 认证安全：JWT双Token机制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0" y="25241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BBCCDD"/>
                </a:solidFill>
                <a:latin typeface="Microsoft YaHei"/>
              </a:rPr>
              <a:t>· 数据安全：5级权限隔离 + SQL注入防护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8500" y="300037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BBCCDD"/>
                </a:solidFill>
                <a:latin typeface="Microsoft YaHei"/>
              </a:rPr>
              <a:t>· 审计安全：完整操作日志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8500" y="34766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BBCCDD"/>
                </a:solidFill>
                <a:latin typeface="Microsoft YaHei"/>
              </a:rPr>
              <a:t>· 合规安全：符合个保法 + 残疾人教育条例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76250"/>
            <a:ext cx="10477500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1A1A1A"/>
                </a:solidFill>
                <a:latin typeface="Microsoft YaHei"/>
              </a:rPr>
              <a:t>启智IEP带来的核心价值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00125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619250"/>
            <a:ext cx="4762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" y="1809750"/>
            <a:ext cx="190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800" b="1">
                <a:solidFill>
                  <a:srgbClr val="C8A45C"/>
                </a:solidFill>
                <a:latin typeface="Microsoft YaHei"/>
              </a:rPr>
              <a:t>70%</a:t>
            </a:r>
          </a:p>
        </p:txBody>
      </p:sp>
      <p:sp>
        <p:nvSpPr>
          <p:cNvPr id="7" name="Rectangle 6"/>
          <p:cNvSpPr/>
          <p:nvPr/>
        </p:nvSpPr>
        <p:spPr>
          <a:xfrm>
            <a:off x="952500" y="247650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管理效率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2809875"/>
            <a:ext cx="4381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IEP制定时间缩短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6500" y="1619250"/>
            <a:ext cx="4762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0" y="1809750"/>
            <a:ext cx="190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800" b="1">
                <a:solidFill>
                  <a:srgbClr val="C8A45C"/>
                </a:solidFill>
                <a:latin typeface="Microsoft YaHei"/>
              </a:rPr>
              <a:t>500+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247650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教学质量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2809875"/>
            <a:ext cx="4381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细分能力指标追踪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3810000"/>
            <a:ext cx="4762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500" y="4000500"/>
            <a:ext cx="190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800" b="1">
                <a:solidFill>
                  <a:srgbClr val="C8A45C"/>
                </a:solidFill>
                <a:latin typeface="Microsoft YaHei"/>
              </a:rPr>
              <a:t>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500" y="466725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数据安全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500" y="5000625"/>
            <a:ext cx="4381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操作可追溯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6500" y="3810000"/>
            <a:ext cx="47625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0" y="4000500"/>
            <a:ext cx="190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800" b="1">
                <a:solidFill>
                  <a:srgbClr val="C8A45C"/>
                </a:solidFill>
                <a:latin typeface="Microsoft YaHei"/>
              </a:rPr>
              <a:t>1天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4667250"/>
            <a:ext cx="2857500" cy="266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1A1A1A"/>
                </a:solidFill>
                <a:latin typeface="Microsoft YaHei"/>
              </a:rPr>
              <a:t>家校共育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5000625"/>
            <a:ext cx="4381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电子签名完成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6143625"/>
            <a:ext cx="476250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CC8888"/>
                </a:solidFill>
                <a:latin typeface="Microsoft YaHei"/>
              </a:rPr>
              <a:t>传统IEP：纸质化 / 经验化 / 碎片化 / 低效化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1250" y="6143625"/>
            <a:ext cx="5238750" cy="2381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D8B6D"/>
                </a:solidFill>
                <a:latin typeface="Microsoft YaHei"/>
              </a:rPr>
              <a:t>启智IEP：数字化 / 数据化 / 一体化 / 智能化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33500" y="1905000"/>
            <a:ext cx="952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0">
                <a:solidFill>
                  <a:srgbClr val="FFFFFF"/>
                </a:solidFill>
                <a:latin typeface="Microsoft YaHei"/>
              </a:rPr>
              <a:t>让每一位特殊学生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3500" y="2571750"/>
            <a:ext cx="9525000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0">
                <a:solidFill>
                  <a:srgbClr val="FFFFFF"/>
                </a:solidFill>
                <a:latin typeface="Microsoft YaHei"/>
              </a:rPr>
              <a:t>都获得最适合自己的教育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429000"/>
            <a:ext cx="381000" cy="28575"/>
          </a:xfrm>
          <a:prstGeom prst="rect">
            <a:avLst/>
          </a:prstGeom>
          <a:solidFill>
            <a:srgbClr val="C8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5500" y="3905250"/>
            <a:ext cx="19050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C8A45C"/>
                </a:solidFill>
                <a:latin typeface="Microsoft YaHei"/>
              </a:rPr>
              <a:t>国际标准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500" y="3905250"/>
            <a:ext cx="7620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555566"/>
                </a:solidFill>
                <a:latin typeface="Microsoft YaHei"/>
              </a:rPr>
              <a:t>|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3905250"/>
            <a:ext cx="19050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C8A45C"/>
                </a:solidFill>
                <a:latin typeface="Microsoft YaHei"/>
              </a:rPr>
              <a:t>安全至上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905250"/>
            <a:ext cx="7620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555566"/>
                </a:solidFill>
                <a:latin typeface="Microsoft YaHei"/>
              </a:rPr>
              <a:t>|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0500" y="3905250"/>
            <a:ext cx="1905000" cy="33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C8A45C"/>
                </a:solidFill>
                <a:latin typeface="Microsoft YaHei"/>
              </a:rPr>
              <a:t>数据驱动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953000"/>
            <a:ext cx="762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888899"/>
                </a:solidFill>
                <a:latin typeface="Microsoft YaHei"/>
              </a:rPr>
              <a:t>产品咨询 · 预约演示 · 官方网站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715000"/>
            <a:ext cx="7620000" cy="9525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5905500"/>
            <a:ext cx="762000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777788"/>
                </a:solidFill>
                <a:latin typeface="Microsoft YaHei"/>
              </a:rPr>
              <a:t>启智IEP管理系统 —— 特殊教育数字化的领航者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
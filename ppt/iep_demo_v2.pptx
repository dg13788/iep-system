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2_What_I_ve_Learned_From_Special_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0"/>
            <a:ext cx="6477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715000" y="0"/>
            <a:ext cx="6477000" cy="6858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52500" y="2476500"/>
            <a:ext cx="571500" cy="38100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52500" y="2667000"/>
            <a:ext cx="4762500" cy="666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4800">
                <a:solidFill>
                  <a:srgbClr val="FFFFFF"/>
                </a:solidFill>
                <a:latin typeface="Liter"/>
              </a:rPr>
              <a:t>启智IEP管理系统</a:t>
            </a:r>
          </a:p>
        </p:txBody>
      </p:sp>
      <p:sp>
        <p:nvSpPr>
          <p:cNvPr id="7" name="Rectangle 6"/>
          <p:cNvSpPr/>
          <p:nvPr/>
        </p:nvSpPr>
        <p:spPr>
          <a:xfrm>
            <a:off x="952500" y="3476625"/>
            <a:ext cx="4667250" cy="3333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>
                <a:solidFill>
                  <a:srgbClr val="C8A45C"/>
                </a:solidFill>
                <a:latin typeface="MiSans"/>
              </a:rPr>
              <a:t>国际一流标准 · 特殊教育数字化管理平台</a:t>
            </a:r>
          </a:p>
        </p:txBody>
      </p:sp>
      <p:sp>
        <p:nvSpPr>
          <p:cNvPr id="8" name="Rectangle 7"/>
          <p:cNvSpPr/>
          <p:nvPr/>
        </p:nvSpPr>
        <p:spPr>
          <a:xfrm>
            <a:off x="952500" y="4048125"/>
            <a:ext cx="3810000" cy="9525"/>
          </a:xfrm>
          <a:prstGeom prst="rect">
            <a:avLst/>
          </a:prstGeom>
          <a:solidFill>
            <a:srgbClr val="C1A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52500" y="4238625"/>
            <a:ext cx="47625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>
                <a:solidFill>
                  <a:srgbClr val="94A3B8"/>
                </a:solidFill>
                <a:latin typeface="MiSans"/>
              </a:rPr>
              <a:t>对标美国IDEA / 英国SEN等国际特殊教育标准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2500" y="4953000"/>
            <a:ext cx="1143000" cy="342900"/>
          </a:xfrm>
          <a:prstGeom prst="rect">
            <a:avLst/>
          </a:prstGeom>
          <a:solidFill>
            <a:srgbClr val="C8A45C"/>
          </a:solidFill>
          <a:ln w="12700">
            <a:solidFill>
              <a:srgbClr val="C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52500" y="4953000"/>
            <a:ext cx="1143000" cy="342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C8A45C"/>
                </a:solidFill>
                <a:latin typeface="MiSans"/>
              </a:rPr>
              <a:t>国际标准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4953000"/>
            <a:ext cx="1143000" cy="342900"/>
          </a:xfrm>
          <a:prstGeom prst="rect">
            <a:avLst/>
          </a:prstGeom>
          <a:solidFill>
            <a:srgbClr val="C8A45C"/>
          </a:solidFill>
          <a:ln w="12700">
            <a:solidFill>
              <a:srgbClr val="C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4953000"/>
            <a:ext cx="1143000" cy="342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C8A45C"/>
                </a:solidFill>
                <a:latin typeface="MiSans"/>
              </a:rPr>
              <a:t>安全至上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19500" y="4953000"/>
            <a:ext cx="1143000" cy="342900"/>
          </a:xfrm>
          <a:prstGeom prst="rect">
            <a:avLst/>
          </a:prstGeom>
          <a:solidFill>
            <a:srgbClr val="C8A45C"/>
          </a:solidFill>
          <a:ln w="12700">
            <a:solidFill>
              <a:srgbClr val="C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19500" y="4953000"/>
            <a:ext cx="1143000" cy="342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C8A45C"/>
                </a:solidFill>
                <a:latin typeface="MiSans"/>
              </a:rPr>
              <a:t>数据驱动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2500" y="6096000"/>
            <a:ext cx="1905000" cy="19050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228600"/>
            <a:ext cx="952500" cy="2095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64748B"/>
                </a:solidFill>
                <a:latin typeface="MiSans"/>
              </a:rPr>
              <a:t>启智IEP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533400"/>
            <a:ext cx="66675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200">
                <a:solidFill>
                  <a:srgbClr val="0F1B2D"/>
                </a:solidFill>
                <a:latin typeface="Liter"/>
              </a:rPr>
              <a:t>特殊教育数字化转型的迫切需求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066800"/>
            <a:ext cx="571500" cy="28575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1333500"/>
            <a:ext cx="1905000" cy="304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>
                <a:solidFill>
                  <a:srgbClr val="405680"/>
                </a:solidFill>
                <a:latin typeface="MiSans"/>
              </a:rPr>
              <a:t>政策驱动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733550"/>
            <a:ext cx="4572000" cy="533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1E293B"/>
                </a:solidFill>
                <a:latin typeface="MiSans"/>
              </a:rPr>
              <a:t>《残疾人教育条例》 明确要求推进特殊教育信息化建设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362200"/>
            <a:ext cx="4572000" cy="533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1E293B"/>
                </a:solidFill>
                <a:latin typeface="MiSans"/>
              </a:rPr>
              <a:t>《特殊教育提升计划》（2021-2025）推动IEP全覆盖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990850"/>
            <a:ext cx="4572000" cy="533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1E293B"/>
                </a:solidFill>
                <a:latin typeface="MiSans"/>
              </a:rPr>
              <a:t>《"十四五"特殊教育发展提升行动计划》 政策密集落地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10250" y="1333500"/>
            <a:ext cx="9525" cy="2476500"/>
          </a:xfrm>
          <a:prstGeom prst="rect">
            <a:avLst/>
          </a:prstGeom>
          <a:solidFill>
            <a:srgbClr val="C1A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0" y="1333500"/>
            <a:ext cx="2857500" cy="304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>
                <a:solidFill>
                  <a:srgbClr val="B73A3A"/>
                </a:solidFill>
                <a:latin typeface="MiSans"/>
              </a:rPr>
              <a:t>行业四大困境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752600"/>
            <a:ext cx="5048250" cy="533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1E293B"/>
                </a:solidFill>
                <a:latin typeface="MiSans"/>
              </a:rPr>
              <a:t>纸质档案管理低效  IEP档案堆积，查找困难，版本混乱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362200"/>
            <a:ext cx="5048250" cy="533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1E293B"/>
                </a:solidFill>
                <a:latin typeface="MiSans"/>
              </a:rPr>
              <a:t>数据安全隐患大  学生隐私缺乏有效保护，泄露风险高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971800"/>
            <a:ext cx="5048250" cy="533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1E293B"/>
                </a:solidFill>
                <a:latin typeface="MiSans"/>
              </a:rPr>
              <a:t>家校协作断层  家长参与度低，签名审批流程冗长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581400"/>
            <a:ext cx="5048250" cy="533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1E293B"/>
                </a:solidFill>
                <a:latin typeface="MiSans"/>
              </a:rPr>
              <a:t>缺乏过程追踪  目标执行缺乏动态监控，效果难量化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4572000"/>
            <a:ext cx="11049000" cy="762000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" y="4572000"/>
            <a:ext cx="38100" cy="762000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0100" y="4572000"/>
            <a:ext cx="10629900" cy="762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i="1">
                <a:solidFill>
                  <a:srgbClr val="0F1B2D"/>
                </a:solidFill>
                <a:latin typeface="MiSans"/>
              </a:rPr>
              <a:t>"特殊教育的每一次进步，都始于一份科学、精准、可执行的IEP"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239500" y="6477000"/>
            <a:ext cx="381000" cy="190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1400">
                <a:solidFill>
                  <a:srgbClr val="94A3B8"/>
                </a:solidFill>
                <a:latin typeface="MiSan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228600"/>
            <a:ext cx="952500" cy="2095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64748B"/>
                </a:solidFill>
                <a:latin typeface="MiSans"/>
              </a:rPr>
              <a:t>启智IEP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533400"/>
            <a:ext cx="76200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200">
                <a:solidFill>
                  <a:srgbClr val="0F1B2D"/>
                </a:solidFill>
                <a:latin typeface="Liter"/>
              </a:rPr>
              <a:t>启智IEP —— 世界一流标准，国内绝对领先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066800"/>
            <a:ext cx="571500" cy="28575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76500" y="1333500"/>
            <a:ext cx="7239000" cy="47625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476500" y="1333500"/>
            <a:ext cx="7239000" cy="4762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>
                <a:solidFill>
                  <a:srgbClr val="FFFFFF"/>
                </a:solidFill>
                <a:latin typeface="MiSans"/>
              </a:rPr>
              <a:t>国内首款全功能、国际化、数据安全驱动的IEP管理平台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2095500"/>
            <a:ext cx="5381625" cy="1809750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33500" y="2343150"/>
            <a:ext cx="1905000" cy="381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>
                <a:solidFill>
                  <a:srgbClr val="0F1B2D"/>
                </a:solidFill>
                <a:latin typeface="MiSans"/>
              </a:rPr>
              <a:t>国际标准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7250" y="2819400"/>
            <a:ext cx="4810125" cy="8572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1E293B"/>
                </a:solidFill>
                <a:latin typeface="MiSans"/>
              </a:rPr>
              <a:t>对标美国IDEA法案、英国SEN Code of Practice，融合国际最佳实践，确保IEP制定符合全球特殊教育最高标准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8875" y="2095500"/>
            <a:ext cx="5381625" cy="1809750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00875" y="2343150"/>
            <a:ext cx="1905000" cy="381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>
                <a:solidFill>
                  <a:srgbClr val="0F1B2D"/>
                </a:solidFill>
                <a:latin typeface="MiSans"/>
              </a:rPr>
              <a:t>合规保障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24625" y="2819400"/>
            <a:ext cx="4810125" cy="8572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1E293B"/>
                </a:solidFill>
                <a:latin typeface="MiSans"/>
              </a:rPr>
              <a:t>符合中国特殊教育政策法规与《个人信息保护法》数据安全要求，从法律层面保障学校与学生权益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4143375"/>
            <a:ext cx="5381625" cy="1809750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33500" y="4391025"/>
            <a:ext cx="1905000" cy="381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>
                <a:solidFill>
                  <a:srgbClr val="0F1B2D"/>
                </a:solidFill>
                <a:latin typeface="MiSans"/>
              </a:rPr>
              <a:t>权限隔离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7250" y="4867275"/>
            <a:ext cx="4810125" cy="8572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1E293B"/>
                </a:solidFill>
                <a:latin typeface="MiSans"/>
              </a:rPr>
              <a:t>行业领先的5级数据权限体系，角色级IEP控制，确保每个用户只能访问授权范围内的数据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8875" y="4143375"/>
            <a:ext cx="5381625" cy="1809750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00875" y="4391025"/>
            <a:ext cx="1905000" cy="381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>
                <a:solidFill>
                  <a:srgbClr val="0F1B2D"/>
                </a:solidFill>
                <a:latin typeface="MiSans"/>
              </a:rPr>
              <a:t>全流程管理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24625" y="4867275"/>
            <a:ext cx="4810125" cy="8572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1E293B"/>
                </a:solidFill>
                <a:latin typeface="MiSans"/>
              </a:rPr>
              <a:t>从评估到制定到执行到追踪，IEP全生命周期数字化闭环，让每一个环节都有据可查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6248400"/>
            <a:ext cx="5715000" cy="2476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64748B"/>
                </a:solidFill>
                <a:latin typeface="MiSans"/>
              </a:rPr>
              <a:t>React 19 + TypeScript + PHP 8.x 前后端分离现代技术架构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239500" y="6477000"/>
            <a:ext cx="381000" cy="190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1400">
                <a:solidFill>
                  <a:srgbClr val="94A3B8"/>
                </a:solidFill>
                <a:latin typeface="MiSan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228600"/>
            <a:ext cx="952500" cy="2095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64748B"/>
                </a:solidFill>
                <a:latin typeface="MiSans"/>
              </a:rPr>
              <a:t>启智IEP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533400"/>
            <a:ext cx="76200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200">
                <a:solidFill>
                  <a:srgbClr val="0F1B2D"/>
                </a:solidFill>
                <a:latin typeface="Liter"/>
              </a:rPr>
              <a:t>八大核心模块，覆盖IEP全业务场景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066800"/>
            <a:ext cx="571500" cy="28575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7250" y="2762250"/>
            <a:ext cx="2857500" cy="9525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7250" y="3238500"/>
            <a:ext cx="2857500" cy="381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>
                <a:solidFill>
                  <a:srgbClr val="FFFFFF"/>
                </a:solidFill>
                <a:latin typeface="MiSans"/>
              </a:rPr>
              <a:t>仪表盘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1333500"/>
            <a:ext cx="2095500" cy="1200150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23950" y="1485900"/>
            <a:ext cx="1428750" cy="304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0F1B2D"/>
                </a:solidFill>
                <a:latin typeface="MiSans"/>
              </a:rPr>
              <a:t>学生管理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0" y="1866900"/>
            <a:ext cx="1762125" cy="571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64748B"/>
                </a:solidFill>
                <a:latin typeface="MiSans"/>
              </a:rPr>
              <a:t>完整学生档案与班级归属管理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8250" y="1333500"/>
            <a:ext cx="2095500" cy="1200150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00700" y="1485900"/>
            <a:ext cx="1428750" cy="304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0F1B2D"/>
                </a:solidFill>
                <a:latin typeface="MiSans"/>
              </a:rPr>
              <a:t>评估管理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38750" y="1866900"/>
            <a:ext cx="1762125" cy="571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64748B"/>
                </a:solidFill>
                <a:latin typeface="MiSans"/>
              </a:rPr>
              <a:t>7大能力领域评估与跨期对比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25000" y="1333500"/>
            <a:ext cx="2095500" cy="1047750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077450" y="1485900"/>
            <a:ext cx="1428750" cy="304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0F1B2D"/>
                </a:solidFill>
                <a:latin typeface="MiSans"/>
              </a:rPr>
              <a:t>IEP管理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15500" y="1866900"/>
            <a:ext cx="1762125" cy="4191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64748B"/>
                </a:solidFill>
                <a:latin typeface="MiSans"/>
              </a:rPr>
              <a:t>5步向导式制定与目标追踪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4095750"/>
            <a:ext cx="2095500" cy="1200150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23950" y="4248150"/>
            <a:ext cx="1428750" cy="304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0F1B2D"/>
                </a:solidFill>
                <a:latin typeface="MiSans"/>
              </a:rPr>
              <a:t>教学记录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2000" y="4629150"/>
            <a:ext cx="1762125" cy="571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64748B"/>
                </a:solidFill>
                <a:latin typeface="MiSans"/>
              </a:rPr>
              <a:t>快速记录教学进展与日历视图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5524500"/>
            <a:ext cx="2095500" cy="762000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66800" y="5676900"/>
            <a:ext cx="1428750" cy="304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>
                <a:solidFill>
                  <a:srgbClr val="0F1B2D"/>
                </a:solidFill>
                <a:latin typeface="MiSans"/>
              </a:rPr>
              <a:t>模板管理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48250" y="5524500"/>
            <a:ext cx="2095500" cy="762000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43550" y="5676900"/>
            <a:ext cx="1428750" cy="304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>
                <a:solidFill>
                  <a:srgbClr val="0F1B2D"/>
                </a:solidFill>
                <a:latin typeface="MiSans"/>
              </a:rPr>
              <a:t>家校协作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25000" y="5524500"/>
            <a:ext cx="2095500" cy="762000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20300" y="5676900"/>
            <a:ext cx="1428750" cy="304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>
                <a:solidFill>
                  <a:srgbClr val="0F1B2D"/>
                </a:solidFill>
                <a:latin typeface="MiSans"/>
              </a:rPr>
              <a:t>系统管理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25000" y="4095750"/>
            <a:ext cx="2095500" cy="1200150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077450" y="4248150"/>
            <a:ext cx="1428750" cy="304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0F1B2D"/>
                </a:solidFill>
                <a:latin typeface="MiSans"/>
              </a:rPr>
              <a:t>数据分析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15500" y="4629150"/>
            <a:ext cx="1762125" cy="571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64748B"/>
                </a:solidFill>
                <a:latin typeface="MiSans"/>
              </a:rPr>
              <a:t>统计报表与可视化图表展示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67250" y="3810000"/>
            <a:ext cx="28575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64748B"/>
                </a:solidFill>
                <a:latin typeface="MiSans"/>
              </a:rPr>
              <a:t>数据统计 · 雷达图 · 快捷入口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239500" y="6477000"/>
            <a:ext cx="381000" cy="190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1400">
                <a:solidFill>
                  <a:srgbClr val="94A3B8"/>
                </a:solidFill>
                <a:latin typeface="MiSan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228600"/>
            <a:ext cx="952500" cy="2095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64748B"/>
                </a:solidFill>
                <a:latin typeface="MiSans"/>
              </a:rPr>
              <a:t>启智IEP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533400"/>
            <a:ext cx="76200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200">
                <a:solidFill>
                  <a:srgbClr val="0F1B2D"/>
                </a:solidFill>
                <a:latin typeface="Liter"/>
              </a:rPr>
              <a:t>科学完善的IEP全生命周期管理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066800"/>
            <a:ext cx="571500" cy="28575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1238250"/>
            <a:ext cx="1905000" cy="2476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>
                <a:solidFill>
                  <a:srgbClr val="405680"/>
                </a:solidFill>
                <a:latin typeface="MiSans"/>
              </a:rPr>
              <a:t>7状态流转流程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581150"/>
            <a:ext cx="1409700" cy="3810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1581150"/>
            <a:ext cx="1409700" cy="381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FFFFFF"/>
                </a:solidFill>
                <a:latin typeface="MiSans"/>
              </a:rPr>
              <a:t>草稿</a:t>
            </a:r>
          </a:p>
        </p:txBody>
      </p:sp>
      <p:sp>
        <p:nvSpPr>
          <p:cNvPr id="9" name="Rectangle 8"/>
          <p:cNvSpPr/>
          <p:nvPr/>
        </p:nvSpPr>
        <p:spPr>
          <a:xfrm>
            <a:off x="1981200" y="1771650"/>
            <a:ext cx="190500" cy="0"/>
          </a:xfrm>
          <a:prstGeom prst="rect">
            <a:avLst/>
          </a:prstGeom>
          <a:noFill/>
          <a:ln w="25400">
            <a:solidFill>
              <a:srgbClr val="C1A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71700" y="1581150"/>
            <a:ext cx="1409700" cy="381000"/>
          </a:xfrm>
          <a:prstGeom prst="rect">
            <a:avLst/>
          </a:prstGeom>
          <a:solidFill>
            <a:srgbClr val="405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71700" y="1581150"/>
            <a:ext cx="1409700" cy="381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FFFFFF"/>
                </a:solidFill>
                <a:latin typeface="MiSans"/>
              </a:rPr>
              <a:t>审核中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81400" y="1771650"/>
            <a:ext cx="190500" cy="0"/>
          </a:xfrm>
          <a:prstGeom prst="rect">
            <a:avLst/>
          </a:prstGeom>
          <a:noFill/>
          <a:ln w="25400">
            <a:solidFill>
              <a:srgbClr val="C1A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71900" y="1581150"/>
            <a:ext cx="1409700" cy="381000"/>
          </a:xfrm>
          <a:prstGeom prst="rect">
            <a:avLst/>
          </a:prstGeom>
          <a:solidFill>
            <a:srgbClr val="0D8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71900" y="1581150"/>
            <a:ext cx="1409700" cy="381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FFFFFF"/>
                </a:solidFill>
                <a:latin typeface="MiSans"/>
              </a:rPr>
              <a:t>已通过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81600" y="1771650"/>
            <a:ext cx="190500" cy="0"/>
          </a:xfrm>
          <a:prstGeom prst="rect">
            <a:avLst/>
          </a:prstGeom>
          <a:noFill/>
          <a:ln w="25400">
            <a:solidFill>
              <a:srgbClr val="C1A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72100" y="1581150"/>
            <a:ext cx="1409700" cy="381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72100" y="1581150"/>
            <a:ext cx="1409700" cy="381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FFFFFF"/>
                </a:solidFill>
                <a:latin typeface="MiSans"/>
              </a:rPr>
              <a:t>已签名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81800" y="1771650"/>
            <a:ext cx="190500" cy="0"/>
          </a:xfrm>
          <a:prstGeom prst="rect">
            <a:avLst/>
          </a:prstGeom>
          <a:noFill/>
          <a:ln w="25400">
            <a:solidFill>
              <a:srgbClr val="C1A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72300" y="1581150"/>
            <a:ext cx="1409700" cy="381000"/>
          </a:xfrm>
          <a:prstGeom prst="rect">
            <a:avLst/>
          </a:prstGeom>
          <a:solidFill>
            <a:srgbClr val="D49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72300" y="1581150"/>
            <a:ext cx="1409700" cy="381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FFFFFF"/>
                </a:solidFill>
                <a:latin typeface="MiSans"/>
              </a:rPr>
              <a:t>执行中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82000" y="1771650"/>
            <a:ext cx="190500" cy="0"/>
          </a:xfrm>
          <a:prstGeom prst="rect">
            <a:avLst/>
          </a:prstGeom>
          <a:noFill/>
          <a:ln w="25400">
            <a:solidFill>
              <a:srgbClr val="C1A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72500" y="1581150"/>
            <a:ext cx="1409700" cy="3810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572500" y="1581150"/>
            <a:ext cx="1409700" cy="381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FFFFFF"/>
                </a:solidFill>
                <a:latin typeface="MiSans"/>
              </a:rPr>
              <a:t>已完成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82200" y="1771650"/>
            <a:ext cx="190500" cy="0"/>
          </a:xfrm>
          <a:prstGeom prst="rect">
            <a:avLst/>
          </a:prstGeom>
          <a:noFill/>
          <a:ln w="25400">
            <a:solidFill>
              <a:srgbClr val="C1A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172700" y="1581150"/>
            <a:ext cx="1409700" cy="381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172700" y="1581150"/>
            <a:ext cx="1409700" cy="381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FFFFFF"/>
                </a:solidFill>
                <a:latin typeface="MiSans"/>
              </a:rPr>
              <a:t>已归档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1500" y="2190750"/>
            <a:ext cx="11049000" cy="9525"/>
          </a:xfrm>
          <a:prstGeom prst="rect">
            <a:avLst/>
          </a:prstGeom>
          <a:solidFill>
            <a:srgbClr val="C1A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71500" y="2381250"/>
            <a:ext cx="2857500" cy="2476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>
                <a:solidFill>
                  <a:srgbClr val="405680"/>
                </a:solidFill>
                <a:latin typeface="MiSans"/>
              </a:rPr>
              <a:t>5步向导式IEP制定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1500" y="2781300"/>
            <a:ext cx="2019300" cy="1238250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71500" y="2819400"/>
            <a:ext cx="2019300" cy="342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>
                <a:solidFill>
                  <a:srgbClr val="C8A45C"/>
                </a:solidFill>
                <a:latin typeface="Liter"/>
              </a:rPr>
              <a:t>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6750" y="3200400"/>
            <a:ext cx="1828800" cy="723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1E293B"/>
                </a:solidFill>
                <a:latin typeface="MiSans"/>
              </a:rPr>
              <a:t>学生基本信息与背景资料录入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28925" y="2781300"/>
            <a:ext cx="2019300" cy="1238250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828925" y="2819400"/>
            <a:ext cx="2019300" cy="342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>
                <a:solidFill>
                  <a:srgbClr val="C8A45C"/>
                </a:solidFill>
                <a:latin typeface="Liter"/>
              </a:rPr>
              <a:t>02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24175" y="3200400"/>
            <a:ext cx="1828800" cy="723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1E293B"/>
                </a:solidFill>
                <a:latin typeface="MiSans"/>
              </a:rPr>
              <a:t>7大能力领域评估结果自动导入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86350" y="2781300"/>
            <a:ext cx="2019300" cy="1238250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86350" y="2819400"/>
            <a:ext cx="2019300" cy="342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>
                <a:solidFill>
                  <a:srgbClr val="C8A45C"/>
                </a:solidFill>
                <a:latin typeface="Liter"/>
              </a:rPr>
              <a:t>03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81600" y="3200400"/>
            <a:ext cx="1828800" cy="723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1E293B"/>
                </a:solidFill>
                <a:latin typeface="MiSans"/>
              </a:rPr>
              <a:t>SMART目标设定与量化指标配置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43775" y="2781300"/>
            <a:ext cx="2019300" cy="1238250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343775" y="2819400"/>
            <a:ext cx="2019300" cy="342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>
                <a:solidFill>
                  <a:srgbClr val="C8A45C"/>
                </a:solidFill>
                <a:latin typeface="Liter"/>
              </a:rPr>
              <a:t>04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39025" y="3200400"/>
            <a:ext cx="1828800" cy="723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1E293B"/>
                </a:solidFill>
                <a:latin typeface="MiSans"/>
              </a:rPr>
              <a:t>教学策略与支持服务灵活配置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01200" y="2781300"/>
            <a:ext cx="2019300" cy="1238250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601200" y="2819400"/>
            <a:ext cx="2019300" cy="342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>
                <a:solidFill>
                  <a:srgbClr val="C8A45C"/>
                </a:solidFill>
                <a:latin typeface="Liter"/>
              </a:rPr>
              <a:t>05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96450" y="3200400"/>
            <a:ext cx="1828800" cy="723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1E293B"/>
                </a:solidFill>
                <a:latin typeface="MiSans"/>
              </a:rPr>
              <a:t>家长签名确认与审批一键发布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71500" y="4438650"/>
            <a:ext cx="11049000" cy="5334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43000" y="4572000"/>
            <a:ext cx="102489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FFFFFF"/>
                </a:solidFill>
                <a:latin typeface="MiSans"/>
              </a:rPr>
              <a:t>向导式流程让每位教师都能轻松制定专业级IEP，从草稿到归档全状态自动流转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239500" y="6477000"/>
            <a:ext cx="381000" cy="190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1400">
                <a:solidFill>
                  <a:srgbClr val="94A3B8"/>
                </a:solidFill>
                <a:latin typeface="MiSan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228600"/>
            <a:ext cx="952500" cy="2095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64748B"/>
                </a:solidFill>
                <a:latin typeface="MiSans"/>
              </a:rPr>
              <a:t>启智IEP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533400"/>
            <a:ext cx="76200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200">
                <a:solidFill>
                  <a:srgbClr val="0F1B2D"/>
                </a:solidFill>
                <a:latin typeface="Liter"/>
              </a:rPr>
              <a:t>7大能力领域多维度评估体系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066800"/>
            <a:ext cx="571500" cy="28575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1238250"/>
            <a:ext cx="1905000" cy="2476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>
                <a:solidFill>
                  <a:srgbClr val="405680"/>
                </a:solidFill>
                <a:latin typeface="MiSans"/>
              </a:rPr>
              <a:t>评估领域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600200"/>
            <a:ext cx="2857500" cy="304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1E293B"/>
                </a:solidFill>
                <a:latin typeface="MiSans"/>
              </a:rPr>
              <a:t>认知能力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019300"/>
            <a:ext cx="2857500" cy="304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1E293B"/>
                </a:solidFill>
                <a:latin typeface="MiSans"/>
              </a:rPr>
              <a:t>沟通能力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438400"/>
            <a:ext cx="2857500" cy="304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1E293B"/>
                </a:solidFill>
                <a:latin typeface="MiSans"/>
              </a:rPr>
              <a:t>社交能力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857500"/>
            <a:ext cx="2857500" cy="304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1E293B"/>
                </a:solidFill>
                <a:latin typeface="MiSans"/>
              </a:rPr>
              <a:t>生活自理能力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276600"/>
            <a:ext cx="2857500" cy="304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1E293B"/>
                </a:solidFill>
                <a:latin typeface="MiSans"/>
              </a:rPr>
              <a:t>运动能力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695700"/>
            <a:ext cx="2857500" cy="304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1E293B"/>
                </a:solidFill>
                <a:latin typeface="MiSans"/>
              </a:rPr>
              <a:t>情绪行为能力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114800"/>
            <a:ext cx="2857500" cy="304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1E293B"/>
                </a:solidFill>
                <a:latin typeface="MiSans"/>
              </a:rPr>
              <a:t>学业能力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91000" y="1238250"/>
            <a:ext cx="9525" cy="3429000"/>
          </a:xfrm>
          <a:prstGeom prst="rect">
            <a:avLst/>
          </a:prstGeom>
          <a:solidFill>
            <a:srgbClr val="C1A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0" y="1238250"/>
            <a:ext cx="2857500" cy="2476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>
                <a:solidFill>
                  <a:srgbClr val="405680"/>
                </a:solidFill>
                <a:latin typeface="MiSans"/>
              </a:rPr>
              <a:t>核心功能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1638300"/>
            <a:ext cx="7048500" cy="876300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0" y="1638300"/>
            <a:ext cx="38100" cy="876300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62500" y="1676400"/>
            <a:ext cx="66675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0F1B2D"/>
                </a:solidFill>
                <a:latin typeface="MiSans"/>
              </a:rPr>
              <a:t>双模式评估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62500" y="2000250"/>
            <a:ext cx="6667500" cy="4381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>
                <a:solidFill>
                  <a:srgbClr val="1E293B"/>
                </a:solidFill>
                <a:latin typeface="MiSans"/>
              </a:rPr>
              <a:t>支持标准化量表评估与教师观察评估两种模式，灵活适配不同场景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2667000"/>
            <a:ext cx="7048500" cy="876300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0" y="2667000"/>
            <a:ext cx="38100" cy="876300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62500" y="2705100"/>
            <a:ext cx="66675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0F1B2D"/>
                </a:solidFill>
                <a:latin typeface="MiSans"/>
              </a:rPr>
              <a:t>跨期对比分析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62500" y="3028950"/>
            <a:ext cx="6667500" cy="4381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>
                <a:solidFill>
                  <a:srgbClr val="1E293B"/>
                </a:solidFill>
                <a:latin typeface="MiSans"/>
              </a:rPr>
              <a:t>自动生成分数变化趋势图，直观展现学生成长轨迹与进步幅度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3695700"/>
            <a:ext cx="7048500" cy="876300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0" y="3695700"/>
            <a:ext cx="38100" cy="876300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762500" y="3733800"/>
            <a:ext cx="66675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0F1B2D"/>
                </a:solidFill>
                <a:latin typeface="MiSans"/>
              </a:rPr>
              <a:t>数据驱动IEP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62500" y="4057650"/>
            <a:ext cx="6667500" cy="4381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>
                <a:solidFill>
                  <a:srgbClr val="1E293B"/>
                </a:solidFill>
                <a:latin typeface="MiSans"/>
              </a:rPr>
              <a:t>评估结果自动关联IEP目标设定，支持报告PDF导出与打印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1500" y="4953000"/>
            <a:ext cx="11049000" cy="762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1500" y="4953000"/>
            <a:ext cx="1905000" cy="762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800">
                <a:solidFill>
                  <a:srgbClr val="C8A45C"/>
                </a:solidFill>
                <a:latin typeface="Liter"/>
              </a:rPr>
              <a:t>500+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76500" y="5048250"/>
            <a:ext cx="8953500" cy="304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>
                <a:solidFill>
                  <a:srgbClr val="FFFFFF"/>
                </a:solidFill>
                <a:latin typeface="MiSans"/>
              </a:rPr>
              <a:t>每名学生最多可追踪 500+ 细分能力指标，实现精准个性化教学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239500" y="6477000"/>
            <a:ext cx="381000" cy="190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1400">
                <a:solidFill>
                  <a:srgbClr val="94A3B8"/>
                </a:solidFill>
                <a:latin typeface="MiSan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342900"/>
            <a:ext cx="1714500" cy="304800"/>
          </a:xfrm>
          <a:prstGeom prst="rect">
            <a:avLst/>
          </a:prstGeom>
          <a:solidFill>
            <a:srgbClr val="B7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42900"/>
            <a:ext cx="1714500" cy="304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FFFFFF"/>
                </a:solidFill>
                <a:latin typeface="MiSans"/>
              </a:rPr>
              <a:t>核心优势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838200"/>
            <a:ext cx="8572500" cy="4953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600">
                <a:solidFill>
                  <a:srgbClr val="FFFFFF"/>
                </a:solidFill>
                <a:latin typeface="Liter"/>
              </a:rPr>
              <a:t>数据权限隔离 —— 系统安全的铜墙铁壁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1409700"/>
            <a:ext cx="571500" cy="28575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1600200"/>
            <a:ext cx="95250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94A3B8"/>
                </a:solidFill>
                <a:latin typeface="MiSans"/>
              </a:rPr>
              <a:t>这是启智IEP区别于市面上所有同类产品的核心安全基石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2095500"/>
            <a:ext cx="3429000" cy="2476500"/>
          </a:xfrm>
          <a:prstGeom prst="rect">
            <a:avLst/>
          </a:prstGeom>
          <a:solidFill>
            <a:srgbClr val="1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2095500"/>
            <a:ext cx="3429000" cy="38100"/>
          </a:xfrm>
          <a:prstGeom prst="rect">
            <a:avLst/>
          </a:prstGeom>
          <a:solidFill>
            <a:srgbClr val="B7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0100" y="2743200"/>
            <a:ext cx="2971800" cy="304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>
                <a:solidFill>
                  <a:srgbClr val="B73A3A"/>
                </a:solidFill>
                <a:latin typeface="MiSans"/>
              </a:rPr>
              <a:t>传统系统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" y="3124200"/>
            <a:ext cx="2971800" cy="12382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>
                <a:solidFill>
                  <a:srgbClr val="94A3B8"/>
                </a:solidFill>
                <a:latin typeface="MiSans"/>
              </a:rPr>
              <a:t>所有教师可见全校学生数据</a:t>
            </a:r>
          </a:p>
          <a:p>
            <a:pPr algn="l"/>
            <a:r>
              <a:rPr sz="1600">
                <a:solidFill>
                  <a:srgbClr val="94A3B8"/>
                </a:solidFill>
                <a:latin typeface="MiSans"/>
              </a:rPr>
              <a:t>无有效权限隔离机制</a:t>
            </a:r>
          </a:p>
          <a:p>
            <a:pPr algn="l"/>
            <a:r>
              <a:rPr sz="1600">
                <a:solidFill>
                  <a:srgbClr val="94A3B8"/>
                </a:solidFill>
                <a:latin typeface="MiSans"/>
              </a:rPr>
              <a:t>隐私泄露风险极高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86250" y="2095500"/>
            <a:ext cx="3429000" cy="2476500"/>
          </a:xfrm>
          <a:prstGeom prst="rect">
            <a:avLst/>
          </a:prstGeom>
          <a:solidFill>
            <a:srgbClr val="1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86250" y="2095500"/>
            <a:ext cx="3429000" cy="38100"/>
          </a:xfrm>
          <a:prstGeom prst="rect">
            <a:avLst/>
          </a:prstGeom>
          <a:solidFill>
            <a:srgbClr val="D49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14850" y="2743200"/>
            <a:ext cx="2971800" cy="304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>
                <a:solidFill>
                  <a:srgbClr val="D4930D"/>
                </a:solidFill>
                <a:latin typeface="MiSans"/>
              </a:rPr>
              <a:t>普通系统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14850" y="3124200"/>
            <a:ext cx="2971800" cy="12382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>
                <a:solidFill>
                  <a:srgbClr val="94A3B8"/>
                </a:solidFill>
                <a:latin typeface="MiSans"/>
              </a:rPr>
              <a:t>简单的角色权限控制</a:t>
            </a:r>
          </a:p>
          <a:p>
            <a:pPr algn="l"/>
            <a:r>
              <a:rPr sz="1600">
                <a:solidFill>
                  <a:srgbClr val="94A3B8"/>
                </a:solidFill>
                <a:latin typeface="MiSans"/>
              </a:rPr>
              <a:t>数据范围无法精细化管理</a:t>
            </a:r>
          </a:p>
          <a:p>
            <a:pPr algn="l"/>
            <a:r>
              <a:rPr sz="1600">
                <a:solidFill>
                  <a:srgbClr val="94A3B8"/>
                </a:solidFill>
                <a:latin typeface="MiSans"/>
              </a:rPr>
              <a:t>安全粒度不足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1000" y="2095500"/>
            <a:ext cx="3619500" cy="2476500"/>
          </a:xfrm>
          <a:prstGeom prst="rect">
            <a:avLst/>
          </a:prstGeom>
          <a:solidFill>
            <a:srgbClr val="1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2095500"/>
            <a:ext cx="3619500" cy="38100"/>
          </a:xfrm>
          <a:prstGeom prst="rect">
            <a:avLst/>
          </a:prstGeom>
          <a:solidFill>
            <a:srgbClr val="0D8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2743200"/>
            <a:ext cx="3162300" cy="304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>
                <a:solidFill>
                  <a:srgbClr val="0D8B6D"/>
                </a:solidFill>
                <a:latin typeface="MiSans"/>
              </a:rPr>
              <a:t>启智IEP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3124200"/>
            <a:ext cx="3162300" cy="12382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>
                <a:solidFill>
                  <a:srgbClr val="94A3B8"/>
                </a:solidFill>
                <a:latin typeface="MiSans"/>
              </a:rPr>
              <a:t>5级数据范围 + 角色级IEP控制</a:t>
            </a:r>
          </a:p>
          <a:p>
            <a:pPr algn="l"/>
            <a:r>
              <a:rPr sz="1600">
                <a:solidFill>
                  <a:srgbClr val="94A3B8"/>
                </a:solidFill>
                <a:latin typeface="MiSans"/>
              </a:rPr>
              <a:t>每个角色精准授权</a:t>
            </a:r>
          </a:p>
          <a:p>
            <a:pPr algn="l"/>
            <a:r>
              <a:rPr sz="1600">
                <a:solidFill>
                  <a:srgbClr val="94A3B8"/>
                </a:solidFill>
                <a:latin typeface="MiSans"/>
              </a:rPr>
              <a:t>铜墙铁壁式安全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4953000"/>
            <a:ext cx="11049000" cy="762000"/>
          </a:xfrm>
          <a:prstGeom prst="rect">
            <a:avLst/>
          </a:prstGeom>
          <a:solidFill>
            <a:srgbClr val="1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1500" y="4953000"/>
            <a:ext cx="38100" cy="762000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81100" y="4953000"/>
            <a:ext cx="10248900" cy="762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FFFFFF"/>
                </a:solidFill>
                <a:latin typeface="MiSans"/>
              </a:rPr>
              <a:t>全面符合《个人信息保护法》第28条关于敏感个人信息处理的特别规定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239500" y="6477000"/>
            <a:ext cx="381000" cy="190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1400">
                <a:solidFill>
                  <a:srgbClr val="94A3B8"/>
                </a:solidFill>
                <a:latin typeface="MiSan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228600"/>
            <a:ext cx="952500" cy="2095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64748B"/>
                </a:solidFill>
                <a:latin typeface="MiSans"/>
              </a:rPr>
              <a:t>启智IEP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533400"/>
            <a:ext cx="85725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200">
                <a:solidFill>
                  <a:srgbClr val="0F1B2D"/>
                </a:solidFill>
                <a:latin typeface="Liter"/>
              </a:rPr>
              <a:t>5级数据范围控制 · 精细化权限矩阵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066800"/>
            <a:ext cx="571500" cy="28575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4476750"/>
            <a:ext cx="2857500" cy="2476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>
                <a:solidFill>
                  <a:srgbClr val="405680"/>
                </a:solidFill>
                <a:latin typeface="MiSans"/>
              </a:rPr>
              <a:t>技术实现机制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4838700"/>
            <a:ext cx="3429000" cy="1104900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4838700"/>
            <a:ext cx="3429000" cy="38100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2000" y="4972050"/>
            <a:ext cx="3048000" cy="2667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0F1B2D"/>
                </a:solidFill>
                <a:latin typeface="MiSans"/>
              </a:rPr>
              <a:t>后端自动拦截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0" y="5276850"/>
            <a:ext cx="3048000" cy="571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1E293B"/>
                </a:solidFill>
                <a:latin typeface="MiSans"/>
              </a:rPr>
              <a:t>applyDataScope 自动追加SQL WHERE条件，零人工干预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86250" y="4838700"/>
            <a:ext cx="3429000" cy="1104900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86250" y="4838700"/>
            <a:ext cx="3429000" cy="38100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76750" y="4972050"/>
            <a:ext cx="3048000" cy="2667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0F1B2D"/>
                </a:solidFill>
                <a:latin typeface="MiSans"/>
              </a:rPr>
              <a:t>前端统一过滤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76750" y="5276850"/>
            <a:ext cx="3048000" cy="571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1E293B"/>
                </a:solidFill>
                <a:latin typeface="MiSans"/>
              </a:rPr>
              <a:t>filterByDataScope 统一数据过滤，前后端双重保障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4838700"/>
            <a:ext cx="3619500" cy="952500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4838700"/>
            <a:ext cx="3619500" cy="38100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91500" y="4972050"/>
            <a:ext cx="3238500" cy="2667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0F1B2D"/>
                </a:solidFill>
                <a:latin typeface="MiSans"/>
              </a:rPr>
              <a:t>实时生效机制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91500" y="5276850"/>
            <a:ext cx="3238500" cy="4191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1E293B"/>
                </a:solidFill>
                <a:latin typeface="MiSans"/>
              </a:rPr>
              <a:t>权限变更实时生效，无需重新登录即可生效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239500" y="6477000"/>
            <a:ext cx="381000" cy="190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1400">
                <a:solidFill>
                  <a:srgbClr val="94A3B8"/>
                </a:solidFill>
                <a:latin typeface="MiSan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90500"/>
            <a:ext cx="11430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64748B"/>
                </a:solidFill>
                <a:latin typeface="MiSans"/>
              </a:rPr>
              <a:t>启智IEP</a:t>
            </a:r>
          </a:p>
        </p:txBody>
      </p:sp>
      <p:sp>
        <p:nvSpPr>
          <p:cNvPr id="4" name="Rectangle 3"/>
          <p:cNvSpPr/>
          <p:nvPr/>
        </p:nvSpPr>
        <p:spPr>
          <a:xfrm>
            <a:off x="11049000" y="6572250"/>
            <a:ext cx="5715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1400">
                <a:solidFill>
                  <a:srgbClr val="94A3B8"/>
                </a:solidFill>
                <a:latin typeface="MiSans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476250"/>
            <a:ext cx="95250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200">
                <a:solidFill>
                  <a:srgbClr val="0F1B2D"/>
                </a:solidFill>
                <a:latin typeface="Liter"/>
              </a:rPr>
              <a:t>不同角色能看到什么？—— 一目了然的权限差异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1009650"/>
            <a:ext cx="571500" cy="28575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1276350"/>
            <a:ext cx="2571750" cy="3429000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1447800"/>
            <a:ext cx="1809750" cy="342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>
                <a:solidFill>
                  <a:srgbClr val="405680"/>
                </a:solidFill>
                <a:latin typeface="MiSans"/>
              </a:rPr>
              <a:t>校长/特教主管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1905000"/>
            <a:ext cx="2190750" cy="19050"/>
          </a:xfrm>
          <a:prstGeom prst="rect">
            <a:avLst/>
          </a:prstGeom>
          <a:solidFill>
            <a:srgbClr val="C1A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000" y="2038350"/>
            <a:ext cx="2190750" cy="2667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>
                <a:solidFill>
                  <a:srgbClr val="C8A45C"/>
                </a:solidFill>
                <a:latin typeface="MiSans"/>
              </a:rPr>
              <a:t>全校学生全景视图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2400300"/>
            <a:ext cx="2190750" cy="2095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>
                <a:solidFill>
                  <a:srgbClr val="1E293B"/>
                </a:solidFill>
                <a:latin typeface="MiSans"/>
              </a:rPr>
              <a:t>• 全校学生档案管理</a:t>
            </a:r>
          </a:p>
          <a:p>
            <a:pPr algn="l"/>
            <a:r>
              <a:rPr sz="1600">
                <a:solidFill>
                  <a:srgbClr val="1E293B"/>
                </a:solidFill>
                <a:latin typeface="MiSans"/>
              </a:rPr>
              <a:t>• 所有IEP文档查看与审核</a:t>
            </a:r>
          </a:p>
          <a:p>
            <a:pPr algn="l"/>
            <a:r>
              <a:rPr sz="1600">
                <a:solidFill>
                  <a:srgbClr val="1E293B"/>
                </a:solidFill>
                <a:latin typeface="MiSans"/>
              </a:rPr>
              <a:t>• 所有评估报告查阅</a:t>
            </a:r>
          </a:p>
          <a:p>
            <a:pPr algn="l"/>
            <a:r>
              <a:rPr sz="1600">
                <a:solidFill>
                  <a:srgbClr val="1E293B"/>
                </a:solidFill>
                <a:latin typeface="MiSans"/>
              </a:rPr>
              <a:t>• 统计数据与报表</a:t>
            </a:r>
          </a:p>
          <a:p>
            <a:pPr algn="l"/>
            <a:r>
              <a:rPr sz="1600">
                <a:solidFill>
                  <a:srgbClr val="1E293B"/>
                </a:solidFill>
                <a:latin typeface="MiSans"/>
              </a:rPr>
              <a:t>• 权限组配置</a:t>
            </a:r>
          </a:p>
          <a:p>
            <a:pPr algn="l"/>
            <a:r>
              <a:rPr sz="1600">
                <a:solidFill>
                  <a:srgbClr val="1E293B"/>
                </a:solidFill>
                <a:latin typeface="MiSans"/>
              </a:rPr>
              <a:t>• 操作审计日志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3750" y="1276350"/>
            <a:ext cx="2571750" cy="3429000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05250" y="1447800"/>
            <a:ext cx="1809750" cy="342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>
                <a:solidFill>
                  <a:srgbClr val="405680"/>
                </a:solidFill>
                <a:latin typeface="MiSans"/>
              </a:rPr>
              <a:t>班主任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24250" y="1905000"/>
            <a:ext cx="2190750" cy="19050"/>
          </a:xfrm>
          <a:prstGeom prst="rect">
            <a:avLst/>
          </a:prstGeom>
          <a:solidFill>
            <a:srgbClr val="C1A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4250" y="2038350"/>
            <a:ext cx="2190750" cy="2667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>
                <a:solidFill>
                  <a:srgbClr val="405680"/>
                </a:solidFill>
                <a:latin typeface="MiSans"/>
              </a:rPr>
              <a:t>本班学生视图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24250" y="2400300"/>
            <a:ext cx="2190750" cy="2095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>
                <a:solidFill>
                  <a:srgbClr val="1E293B"/>
                </a:solidFill>
                <a:latin typeface="MiSans"/>
              </a:rPr>
              <a:t>• 本班学生档案</a:t>
            </a:r>
          </a:p>
          <a:p>
            <a:pPr algn="l"/>
            <a:r>
              <a:rPr sz="1600">
                <a:solidFill>
                  <a:srgbClr val="1E293B"/>
                </a:solidFill>
                <a:latin typeface="MiSans"/>
              </a:rPr>
              <a:t>• 本班IEP制定与审核</a:t>
            </a:r>
          </a:p>
          <a:p>
            <a:pPr algn="l"/>
            <a:r>
              <a:rPr sz="1600">
                <a:solidFill>
                  <a:srgbClr val="1E293B"/>
                </a:solidFill>
                <a:latin typeface="MiSans"/>
              </a:rPr>
              <a:t>• 本班评估报告</a:t>
            </a:r>
          </a:p>
          <a:p>
            <a:pPr algn="l"/>
            <a:r>
              <a:rPr sz="1600">
                <a:solidFill>
                  <a:srgbClr val="1E293B"/>
                </a:solidFill>
                <a:latin typeface="MiSans"/>
              </a:rPr>
              <a:t>• 本班教学记录</a:t>
            </a:r>
          </a:p>
          <a:p>
            <a:pPr algn="l"/>
            <a:r>
              <a:rPr sz="1600">
                <a:solidFill>
                  <a:srgbClr val="1E293B"/>
                </a:solidFill>
                <a:latin typeface="MiSans"/>
              </a:rPr>
              <a:t>• 家校沟通记录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0" y="1276350"/>
            <a:ext cx="2571750" cy="3429000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67500" y="1447800"/>
            <a:ext cx="1809750" cy="342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>
                <a:solidFill>
                  <a:srgbClr val="405680"/>
                </a:solidFill>
                <a:latin typeface="MiSans"/>
              </a:rPr>
              <a:t>科任教师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86500" y="1905000"/>
            <a:ext cx="2190750" cy="19050"/>
          </a:xfrm>
          <a:prstGeom prst="rect">
            <a:avLst/>
          </a:prstGeom>
          <a:solidFill>
            <a:srgbClr val="C1A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038350"/>
            <a:ext cx="2190750" cy="2667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>
                <a:solidFill>
                  <a:srgbClr val="405680"/>
                </a:solidFill>
                <a:latin typeface="MiSans"/>
              </a:rPr>
              <a:t>所教学生视图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86500" y="2400300"/>
            <a:ext cx="2190750" cy="2095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>
                <a:solidFill>
                  <a:srgbClr val="1E293B"/>
                </a:solidFill>
                <a:latin typeface="MiSans"/>
              </a:rPr>
              <a:t>• 所教学生基本信息</a:t>
            </a:r>
          </a:p>
          <a:p>
            <a:pPr algn="l"/>
            <a:r>
              <a:rPr sz="1600">
                <a:solidFill>
                  <a:srgbClr val="1E293B"/>
                </a:solidFill>
                <a:latin typeface="MiSans"/>
              </a:rPr>
              <a:t>• 自己负责的教学目标</a:t>
            </a:r>
          </a:p>
          <a:p>
            <a:pPr algn="l"/>
            <a:r>
              <a:rPr sz="1600">
                <a:solidFill>
                  <a:srgbClr val="1E293B"/>
                </a:solidFill>
                <a:latin typeface="MiSans"/>
              </a:rPr>
              <a:t>• 自己的教学记录</a:t>
            </a:r>
          </a:p>
          <a:p>
            <a:pPr algn="l"/>
            <a:r>
              <a:rPr sz="1600">
                <a:solidFill>
                  <a:srgbClr val="1E293B"/>
                </a:solidFill>
                <a:latin typeface="MiSans"/>
              </a:rPr>
              <a:t>• 不可编辑他人目标</a:t>
            </a:r>
          </a:p>
          <a:p>
            <a:pPr algn="l"/>
            <a:r>
              <a:rPr sz="1600">
                <a:solidFill>
                  <a:srgbClr val="1E293B"/>
                </a:solidFill>
                <a:latin typeface="MiSans"/>
              </a:rPr>
              <a:t>• 跨学科协作视图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39200" y="1200150"/>
            <a:ext cx="2724150" cy="3581400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77300" y="1238250"/>
            <a:ext cx="2647950" cy="3505200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448800" y="1447800"/>
            <a:ext cx="1905000" cy="342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>
                <a:solidFill>
                  <a:srgbClr val="405680"/>
                </a:solidFill>
                <a:latin typeface="MiSans"/>
              </a:rPr>
              <a:t>家长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67800" y="1905000"/>
            <a:ext cx="2266950" cy="19050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67800" y="2038350"/>
            <a:ext cx="2266950" cy="2667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>
                <a:solidFill>
                  <a:srgbClr val="C8A45C"/>
                </a:solidFill>
                <a:latin typeface="MiSans"/>
              </a:rPr>
              <a:t>仅自己孩子视图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67800" y="2400300"/>
            <a:ext cx="2266950" cy="2095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>
                <a:solidFill>
                  <a:srgbClr val="1E293B"/>
                </a:solidFill>
                <a:latin typeface="MiSans"/>
              </a:rPr>
              <a:t>• 自己孩子的档案</a:t>
            </a:r>
          </a:p>
          <a:p>
            <a:pPr algn="l"/>
            <a:r>
              <a:rPr sz="1600">
                <a:solidFill>
                  <a:srgbClr val="1E293B"/>
                </a:solidFill>
                <a:latin typeface="MiSans"/>
              </a:rPr>
              <a:t>• 自己孩子的评估报告</a:t>
            </a:r>
          </a:p>
          <a:p>
            <a:pPr algn="l"/>
            <a:r>
              <a:rPr sz="1600">
                <a:solidFill>
                  <a:srgbClr val="1E293B"/>
                </a:solidFill>
                <a:latin typeface="MiSans"/>
              </a:rPr>
              <a:t>• 自己孩子的IEP文档</a:t>
            </a:r>
          </a:p>
          <a:p>
            <a:pPr algn="l"/>
            <a:r>
              <a:rPr sz="1600">
                <a:solidFill>
                  <a:srgbClr val="1E293B"/>
                </a:solidFill>
                <a:latin typeface="MiSans"/>
              </a:rPr>
              <a:t>• 自己孩子的教学记录</a:t>
            </a:r>
          </a:p>
          <a:p>
            <a:pPr algn="l"/>
            <a:r>
              <a:rPr sz="1600">
                <a:solidFill>
                  <a:srgbClr val="1E293B"/>
                </a:solidFill>
                <a:latin typeface="MiSans"/>
              </a:rPr>
              <a:t>• Canvas电子签名</a:t>
            </a:r>
          </a:p>
          <a:p>
            <a:pPr algn="l"/>
            <a:r>
              <a:rPr sz="1600">
                <a:solidFill>
                  <a:srgbClr val="1E293B"/>
                </a:solidFill>
                <a:latin typeface="MiSans"/>
              </a:rPr>
              <a:t>• 绝对看不到其他学生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1500" y="4857750"/>
            <a:ext cx="11049000" cy="762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81100" y="4914900"/>
            <a:ext cx="10248900" cy="6477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>
                <a:solidFill>
                  <a:srgbClr val="FFFFFF"/>
                </a:solidFill>
                <a:latin typeface="MiSans"/>
              </a:rPr>
              <a:t>核心安全机制：家长登录后，系统仅展示自己孩子的档案、评估、IEP和教学记录</a:t>
            </a:r>
          </a:p>
          <a:p>
            <a:pPr algn="l"/>
            <a:r>
              <a:rPr sz="1600">
                <a:solidFill>
                  <a:srgbClr val="FFFFFF"/>
                </a:solidFill>
                <a:latin typeface="MiSans"/>
              </a:rPr>
              <a:t>即使在同一班级，家长A也绝对看不到家长B孩子的任何信息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1500" y="5886450"/>
            <a:ext cx="11049000" cy="9525"/>
          </a:xfrm>
          <a:prstGeom prst="rect">
            <a:avLst/>
          </a:prstGeom>
          <a:solidFill>
            <a:srgbClr val="C1A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71500" y="6057900"/>
            <a:ext cx="11049000" cy="381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i="1">
                <a:solidFill>
                  <a:srgbClr val="0F1B2D"/>
                </a:solidFill>
                <a:latin typeface="MiSans"/>
              </a:rPr>
              <a:t>每一个角色都是一道安全边界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90500"/>
            <a:ext cx="11430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64748B"/>
                </a:solidFill>
                <a:latin typeface="MiSans"/>
              </a:rPr>
              <a:t>启智IEP</a:t>
            </a:r>
          </a:p>
        </p:txBody>
      </p:sp>
      <p:sp>
        <p:nvSpPr>
          <p:cNvPr id="4" name="Rectangle 3"/>
          <p:cNvSpPr/>
          <p:nvPr/>
        </p:nvSpPr>
        <p:spPr>
          <a:xfrm>
            <a:off x="11049000" y="6572250"/>
            <a:ext cx="5715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1400">
                <a:solidFill>
                  <a:srgbClr val="94A3B8"/>
                </a:solidFill>
                <a:latin typeface="MiSans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476250"/>
            <a:ext cx="100965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200">
                <a:solidFill>
                  <a:srgbClr val="0F1B2D"/>
                </a:solidFill>
                <a:latin typeface="Liter"/>
              </a:rPr>
              <a:t>IEP级别的权限控制 —— 科任教师深度协作的安全保障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1009650"/>
            <a:ext cx="571500" cy="28575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33500" y="1333500"/>
            <a:ext cx="9525000" cy="2952750"/>
          </a:xfrm>
          <a:prstGeom prst="rect">
            <a:avLst/>
          </a:prstGeom>
          <a:solidFill>
            <a:srgbClr val="FFFFFF"/>
          </a:solidFill>
          <a:ln w="25400">
            <a:solidFill>
              <a:srgbClr val="0F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33500" y="1333500"/>
            <a:ext cx="9525000" cy="47625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24000" y="1390650"/>
            <a:ext cx="3810000" cy="3619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>
                <a:solidFill>
                  <a:srgbClr val="FFFFFF"/>
                </a:solidFill>
                <a:latin typeface="MiSans"/>
              </a:rPr>
              <a:t>学生IEP文档  —  王小明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72500" y="1390650"/>
            <a:ext cx="2095500" cy="3619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1400">
                <a:solidFill>
                  <a:srgbClr val="C8A45C"/>
                </a:solidFill>
                <a:latin typeface="MiSans"/>
              </a:rPr>
              <a:t>多科任教师协作模式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14500" y="2038350"/>
            <a:ext cx="2667000" cy="1905000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2038350"/>
            <a:ext cx="47625" cy="1905000"/>
          </a:xfrm>
          <a:prstGeom prst="rect">
            <a:avLst/>
          </a:prstGeom>
          <a:solidFill>
            <a:srgbClr val="0D8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09800" y="2152650"/>
            <a:ext cx="200025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0F1B2D"/>
                </a:solidFill>
                <a:latin typeface="MiSans"/>
              </a:rPr>
              <a:t>语文目标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05000" y="2495550"/>
            <a:ext cx="22860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64748B"/>
                </a:solidFill>
                <a:latin typeface="MiSans"/>
              </a:rPr>
              <a:t>负责：语文教师-李老师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05000" y="2800350"/>
            <a:ext cx="2286000" cy="571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1E293B"/>
                </a:solidFill>
                <a:latin typeface="MiSans"/>
              </a:rPr>
              <a:t>提升阅读理解能力，每周完成2篇短文阅读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05000" y="3467100"/>
            <a:ext cx="952500" cy="304800"/>
          </a:xfrm>
          <a:prstGeom prst="rect">
            <a:avLst/>
          </a:prstGeom>
          <a:solidFill>
            <a:srgbClr val="0D8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05000" y="3467100"/>
            <a:ext cx="952500" cy="304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FFFFFF"/>
                </a:solidFill>
                <a:latin typeface="MiSans"/>
              </a:rPr>
              <a:t>可编辑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62500" y="2038350"/>
            <a:ext cx="2667000" cy="1905000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62500" y="2038350"/>
            <a:ext cx="47625" cy="1905000"/>
          </a:xfrm>
          <a:prstGeom prst="rect">
            <a:avLst/>
          </a:prstGeom>
          <a:solidFill>
            <a:srgbClr val="405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57800" y="2152650"/>
            <a:ext cx="200025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0F1B2D"/>
                </a:solidFill>
                <a:latin typeface="MiSans"/>
              </a:rPr>
              <a:t>数学目标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53000" y="2495550"/>
            <a:ext cx="22860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64748B"/>
                </a:solidFill>
                <a:latin typeface="MiSans"/>
              </a:rPr>
              <a:t>负责：数学教师-张老师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53000" y="2800350"/>
            <a:ext cx="2286000" cy="571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1E293B"/>
                </a:solidFill>
                <a:latin typeface="MiSans"/>
              </a:rPr>
              <a:t>掌握10以内加减法，正确率达80%以上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53000" y="3467100"/>
            <a:ext cx="952500" cy="304800"/>
          </a:xfrm>
          <a:prstGeom prst="rect">
            <a:avLst/>
          </a:prstGeom>
          <a:solidFill>
            <a:srgbClr val="405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53000" y="3467100"/>
            <a:ext cx="952500" cy="304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FFFFFF"/>
                </a:solidFill>
                <a:latin typeface="MiSans"/>
              </a:rPr>
              <a:t>仅查看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10500" y="2038350"/>
            <a:ext cx="2667000" cy="1905000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10500" y="2038350"/>
            <a:ext cx="47625" cy="1905000"/>
          </a:xfrm>
          <a:prstGeom prst="rect">
            <a:avLst/>
          </a:prstGeom>
          <a:solidFill>
            <a:srgbClr val="405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05800" y="2152650"/>
            <a:ext cx="200025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0F1B2D"/>
                </a:solidFill>
                <a:latin typeface="MiSans"/>
              </a:rPr>
              <a:t>社交目标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01000" y="2495550"/>
            <a:ext cx="22860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64748B"/>
                </a:solidFill>
                <a:latin typeface="MiSans"/>
              </a:rPr>
              <a:t>负责：社工-陈老师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1000" y="2800350"/>
            <a:ext cx="2286000" cy="571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1E293B"/>
                </a:solidFill>
                <a:latin typeface="MiSans"/>
              </a:rPr>
              <a:t>主动与同学互动，每周至少3次合作游戏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1000" y="3467100"/>
            <a:ext cx="952500" cy="304800"/>
          </a:xfrm>
          <a:prstGeom prst="rect">
            <a:avLst/>
          </a:prstGeom>
          <a:solidFill>
            <a:srgbClr val="405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1000" y="3467100"/>
            <a:ext cx="952500" cy="304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FFFFFF"/>
                </a:solidFill>
                <a:latin typeface="MiSans"/>
              </a:rPr>
              <a:t>仅查看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1500" y="4572000"/>
            <a:ext cx="11049000" cy="9525"/>
          </a:xfrm>
          <a:prstGeom prst="rect">
            <a:avLst/>
          </a:prstGeom>
          <a:solidFill>
            <a:srgbClr val="C1A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409700" y="4762500"/>
            <a:ext cx="1905000" cy="2667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>
                <a:solidFill>
                  <a:srgbClr val="0F1B2D"/>
                </a:solidFill>
                <a:latin typeface="MiSans"/>
              </a:rPr>
              <a:t>角色级IEP控制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47750" y="5067300"/>
            <a:ext cx="2667000" cy="571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1E293B"/>
                </a:solidFill>
                <a:latin typeface="MiSans"/>
              </a:rPr>
              <a:t>科任教师可参与IEP执行，但只能操作自己负责的目标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38700" y="4762500"/>
            <a:ext cx="1905000" cy="2667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>
                <a:solidFill>
                  <a:srgbClr val="0F1B2D"/>
                </a:solidFill>
                <a:latin typeface="MiSans"/>
              </a:rPr>
              <a:t>目标级读写分离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76750" y="5067300"/>
            <a:ext cx="2667000" cy="571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1E293B"/>
                </a:solidFill>
                <a:latin typeface="MiSans"/>
              </a:rPr>
              <a:t>可查看全局目标，只能编辑自己负责的目标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67700" y="4762500"/>
            <a:ext cx="1905000" cy="2667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>
                <a:solidFill>
                  <a:srgbClr val="0F1B2D"/>
                </a:solidFill>
                <a:latin typeface="MiSans"/>
              </a:rPr>
              <a:t>记录自动关联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05750" y="5067300"/>
            <a:ext cx="2667000" cy="571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1E293B"/>
                </a:solidFill>
                <a:latin typeface="MiSans"/>
              </a:rPr>
              <a:t>教学记录自动关联对应目标，责任到人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1500" y="5867400"/>
            <a:ext cx="11049000" cy="381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i="1">
                <a:solidFill>
                  <a:srgbClr val="0F1B2D"/>
                </a:solidFill>
                <a:latin typeface="MiSans"/>
              </a:rPr>
              <a:t>既实现了跨学科协作，又确保了数据操作边界清晰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90500"/>
            <a:ext cx="11430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64748B"/>
                </a:solidFill>
                <a:latin typeface="MiSans"/>
              </a:rPr>
              <a:t>启智IEP</a:t>
            </a:r>
          </a:p>
        </p:txBody>
      </p:sp>
      <p:sp>
        <p:nvSpPr>
          <p:cNvPr id="4" name="Rectangle 3"/>
          <p:cNvSpPr/>
          <p:nvPr/>
        </p:nvSpPr>
        <p:spPr>
          <a:xfrm>
            <a:off x="11049000" y="6572250"/>
            <a:ext cx="5715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1400">
                <a:solidFill>
                  <a:srgbClr val="94A3B8"/>
                </a:solidFill>
                <a:latin typeface="MiSans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476250"/>
            <a:ext cx="85725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200">
                <a:solidFill>
                  <a:srgbClr val="0F1B2D"/>
                </a:solidFill>
                <a:latin typeface="Liter"/>
              </a:rPr>
              <a:t>不硬编码 · 自由配置 —— 灵活权限组体系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1009650"/>
            <a:ext cx="571500" cy="28575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1181100"/>
            <a:ext cx="28575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405680"/>
                </a:solidFill>
                <a:latin typeface="MiSans"/>
              </a:rPr>
              <a:t>6大内置权限组（开箱即用）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1543050"/>
            <a:ext cx="2286000" cy="723900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6800" y="1619250"/>
            <a:ext cx="1676400" cy="571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>
                <a:solidFill>
                  <a:srgbClr val="1E293B"/>
                </a:solidFill>
                <a:latin typeface="MiSans"/>
              </a:rPr>
              <a:t>超级管理员</a:t>
            </a:r>
          </a:p>
          <a:p>
            <a:pPr algn="l"/>
            <a:r>
              <a:rPr sz="1500">
                <a:solidFill>
                  <a:srgbClr val="1E293B"/>
                </a:solidFill>
                <a:latin typeface="MiSans"/>
              </a:rPr>
              <a:t>全部 | 系统级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09900" y="1543050"/>
            <a:ext cx="2286000" cy="723900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05200" y="1619250"/>
            <a:ext cx="1676400" cy="571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>
                <a:solidFill>
                  <a:srgbClr val="1E293B"/>
                </a:solidFill>
                <a:latin typeface="MiSans"/>
              </a:rPr>
              <a:t>校长/特教主管</a:t>
            </a:r>
          </a:p>
          <a:p>
            <a:pPr algn="l"/>
            <a:r>
              <a:rPr sz="1500">
                <a:solidFill>
                  <a:srgbClr val="1E293B"/>
                </a:solidFill>
                <a:latin typeface="MiSans"/>
              </a:rPr>
              <a:t>全部 | L1最高管控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2362200"/>
            <a:ext cx="2286000" cy="723900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6800" y="2438400"/>
            <a:ext cx="1676400" cy="571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>
                <a:solidFill>
                  <a:srgbClr val="1E293B"/>
                </a:solidFill>
                <a:latin typeface="MiSans"/>
              </a:rPr>
              <a:t>班主任</a:t>
            </a:r>
          </a:p>
          <a:p>
            <a:pPr algn="l"/>
            <a:r>
              <a:rPr sz="1500">
                <a:solidFill>
                  <a:srgbClr val="1E293B"/>
                </a:solidFill>
                <a:latin typeface="MiSans"/>
              </a:rPr>
              <a:t>本班 | L2严格管控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09900" y="2362200"/>
            <a:ext cx="2286000" cy="723900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5200" y="2438400"/>
            <a:ext cx="1676400" cy="571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>
                <a:solidFill>
                  <a:srgbClr val="1E293B"/>
                </a:solidFill>
                <a:latin typeface="MiSans"/>
              </a:rPr>
              <a:t>科任教师</a:t>
            </a:r>
          </a:p>
          <a:p>
            <a:pPr algn="l"/>
            <a:r>
              <a:rPr sz="1500">
                <a:solidFill>
                  <a:srgbClr val="1E293B"/>
                </a:solidFill>
                <a:latin typeface="MiSans"/>
              </a:rPr>
              <a:t>所教 | L3标准管控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3181350"/>
            <a:ext cx="2286000" cy="723900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6800" y="3257550"/>
            <a:ext cx="1676400" cy="571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>
                <a:solidFill>
                  <a:srgbClr val="1E293B"/>
                </a:solidFill>
                <a:latin typeface="MiSans"/>
              </a:rPr>
              <a:t>家长</a:t>
            </a:r>
          </a:p>
          <a:p>
            <a:pPr algn="l"/>
            <a:r>
              <a:rPr sz="1500">
                <a:solidFill>
                  <a:srgbClr val="1E293B"/>
                </a:solidFill>
                <a:latin typeface="MiSans"/>
              </a:rPr>
              <a:t>自己孩子 | L4限制管控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09900" y="3181350"/>
            <a:ext cx="2286000" cy="723900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505200" y="3257550"/>
            <a:ext cx="1676400" cy="571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>
                <a:solidFill>
                  <a:srgbClr val="1E293B"/>
                </a:solidFill>
                <a:latin typeface="MiSans"/>
              </a:rPr>
              <a:t>系统管理员</a:t>
            </a:r>
          </a:p>
          <a:p>
            <a:pPr algn="l"/>
            <a:r>
              <a:rPr sz="1500">
                <a:solidFill>
                  <a:srgbClr val="1E293B"/>
                </a:solidFill>
                <a:latin typeface="MiSans"/>
              </a:rPr>
              <a:t>系统配置 | 非教学数据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05500" y="1181100"/>
            <a:ext cx="38100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405680"/>
                </a:solidFill>
                <a:latin typeface="MiSans"/>
              </a:rPr>
              <a:t>三维权限控制模型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05500" y="1543050"/>
            <a:ext cx="5715000" cy="2362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1A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1866900"/>
            <a:ext cx="1524000" cy="5334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86500" y="1866900"/>
            <a:ext cx="1524000" cy="533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>
                <a:solidFill>
                  <a:srgbClr val="FFFFFF"/>
                </a:solidFill>
                <a:latin typeface="MiSans"/>
              </a:rPr>
              <a:t>功能权限</a:t>
            </a:r>
          </a:p>
          <a:p>
            <a:pPr algn="ctr"/>
            <a:r>
              <a:rPr sz="1500">
                <a:solidFill>
                  <a:srgbClr val="FFFFFF"/>
                </a:solidFill>
                <a:latin typeface="MiSans"/>
              </a:rPr>
              <a:t>菜单/按钮/操作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01000" y="1866900"/>
            <a:ext cx="1524000" cy="533400"/>
          </a:xfrm>
          <a:prstGeom prst="rect">
            <a:avLst/>
          </a:prstGeom>
          <a:solidFill>
            <a:srgbClr val="405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01000" y="1866900"/>
            <a:ext cx="1524000" cy="533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>
                <a:solidFill>
                  <a:srgbClr val="FFFFFF"/>
                </a:solidFill>
                <a:latin typeface="MiSans"/>
              </a:rPr>
              <a:t>数据范围</a:t>
            </a:r>
          </a:p>
          <a:p>
            <a:pPr algn="ctr"/>
            <a:r>
              <a:rPr sz="1500">
                <a:solidFill>
                  <a:srgbClr val="FFFFFF"/>
                </a:solidFill>
                <a:latin typeface="MiSans"/>
              </a:rPr>
              <a:t>全部/本班/所教/自己/无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15500" y="1866900"/>
            <a:ext cx="1524000" cy="533400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15500" y="1866900"/>
            <a:ext cx="1524000" cy="533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>
                <a:solidFill>
                  <a:srgbClr val="FFFFFF"/>
                </a:solidFill>
                <a:latin typeface="MiSans"/>
              </a:rPr>
              <a:t>IEP级别</a:t>
            </a:r>
          </a:p>
          <a:p>
            <a:pPr algn="ctr"/>
            <a:r>
              <a:rPr sz="1500">
                <a:solidFill>
                  <a:srgbClr val="FFFFFF"/>
                </a:solidFill>
                <a:latin typeface="MiSans"/>
              </a:rPr>
              <a:t>操作深度控制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10500" y="2133600"/>
            <a:ext cx="190500" cy="0"/>
          </a:xfrm>
          <a:prstGeom prst="rect">
            <a:avLst/>
          </a:prstGeom>
          <a:noFill/>
          <a:ln w="25400">
            <a:solidFill>
              <a:srgbClr val="C1A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25000" y="2133600"/>
            <a:ext cx="190500" cy="0"/>
          </a:xfrm>
          <a:prstGeom prst="rect">
            <a:avLst/>
          </a:prstGeom>
          <a:noFill/>
          <a:ln w="25400">
            <a:solidFill>
              <a:srgbClr val="C1A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29500" y="2762250"/>
            <a:ext cx="2857500" cy="762000"/>
          </a:xfrm>
          <a:prstGeom prst="rect">
            <a:avLst/>
          </a:prstGeom>
          <a:solidFill>
            <a:srgbClr val="EDE8E0"/>
          </a:solidFill>
          <a:ln w="12700">
            <a:solidFill>
              <a:srgbClr val="C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524750" y="2819400"/>
            <a:ext cx="2667000" cy="6477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0F1B2D"/>
                </a:solidFill>
                <a:latin typeface="MiSans"/>
              </a:rPr>
              <a:t>三维度交集 = 精准授权</a:t>
            </a:r>
          </a:p>
          <a:p>
            <a:pPr algn="ctr"/>
            <a:r>
              <a:rPr sz="1400">
                <a:solidFill>
                  <a:srgbClr val="0F1B2D"/>
                </a:solidFill>
                <a:latin typeface="MiSans"/>
              </a:rPr>
              <a:t>每个用户获得最小必要权限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1500" y="4133850"/>
            <a:ext cx="11049000" cy="9525"/>
          </a:xfrm>
          <a:prstGeom prst="rect">
            <a:avLst/>
          </a:prstGeom>
          <a:solidFill>
            <a:srgbClr val="C1A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371600" y="4324350"/>
            <a:ext cx="2476500" cy="571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>
                <a:solidFill>
                  <a:srgbClr val="1E293B"/>
                </a:solidFill>
                <a:latin typeface="MiSans"/>
              </a:rPr>
              <a:t>自由创建权限组</a:t>
            </a:r>
          </a:p>
          <a:p>
            <a:pPr algn="l"/>
            <a:r>
              <a:rPr sz="1500">
                <a:solidFill>
                  <a:srgbClr val="1E293B"/>
                </a:solidFill>
                <a:latin typeface="MiSans"/>
              </a:rPr>
              <a:t>后台可视化配置，无需修改代码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05350" y="4324350"/>
            <a:ext cx="2667000" cy="571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>
                <a:solidFill>
                  <a:srgbClr val="1E293B"/>
                </a:solidFill>
                <a:latin typeface="MiSans"/>
              </a:rPr>
              <a:t>千人千面配置</a:t>
            </a:r>
          </a:p>
          <a:p>
            <a:pPr algn="l"/>
            <a:r>
              <a:rPr sz="1500">
                <a:solidFill>
                  <a:srgbClr val="1E293B"/>
                </a:solidFill>
                <a:latin typeface="MiSans"/>
              </a:rPr>
              <a:t>学校可根据自身特点灵活调整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4324350"/>
            <a:ext cx="2667000" cy="571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>
                <a:solidFill>
                  <a:srgbClr val="1E293B"/>
                </a:solidFill>
                <a:latin typeface="MiSans"/>
              </a:rPr>
              <a:t>实时生效</a:t>
            </a:r>
          </a:p>
          <a:p>
            <a:pPr algn="l"/>
            <a:r>
              <a:rPr sz="1500">
                <a:solidFill>
                  <a:srgbClr val="1E293B"/>
                </a:solidFill>
                <a:latin typeface="MiSans"/>
              </a:rPr>
              <a:t>权限变更即时生效，支持A/B测试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1500" y="5143500"/>
            <a:ext cx="11049000" cy="381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i="1">
                <a:solidFill>
                  <a:srgbClr val="0F1B2D"/>
                </a:solidFill>
                <a:latin typeface="MiSans"/>
              </a:rPr>
              <a:t>权限配置不是代码，而是面向教育管理者的友好界面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90500"/>
            <a:ext cx="11430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64748B"/>
                </a:solidFill>
                <a:latin typeface="MiSans"/>
              </a:rPr>
              <a:t>启智IEP</a:t>
            </a:r>
          </a:p>
        </p:txBody>
      </p:sp>
      <p:sp>
        <p:nvSpPr>
          <p:cNvPr id="4" name="Rectangle 3"/>
          <p:cNvSpPr/>
          <p:nvPr/>
        </p:nvSpPr>
        <p:spPr>
          <a:xfrm>
            <a:off x="11049000" y="6572250"/>
            <a:ext cx="5715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1400">
                <a:solidFill>
                  <a:srgbClr val="94A3B8"/>
                </a:solidFill>
                <a:latin typeface="MiSans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476250"/>
            <a:ext cx="95250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200">
                <a:solidFill>
                  <a:srgbClr val="0F1B2D"/>
                </a:solidFill>
                <a:latin typeface="Liter"/>
              </a:rPr>
              <a:t>SMART目标追踪 · 让每一点进步都有据可循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1009650"/>
            <a:ext cx="571500" cy="28575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1257300"/>
            <a:ext cx="20193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1A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1295400"/>
            <a:ext cx="2019300" cy="4762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>
                <a:solidFill>
                  <a:srgbClr val="C8A45C"/>
                </a:solidFill>
                <a:latin typeface="Liter"/>
              </a:rPr>
              <a:t>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1771650"/>
            <a:ext cx="2019300" cy="2476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0F1B2D"/>
                </a:solidFill>
                <a:latin typeface="MiSans"/>
              </a:rPr>
              <a:t>Specific 具体的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6750" y="2057400"/>
            <a:ext cx="1828800" cy="6477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1E293B"/>
                </a:solidFill>
                <a:latin typeface="MiSans"/>
              </a:rPr>
              <a:t>目标描述清晰明确，不含糊其辞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1300" y="1257300"/>
            <a:ext cx="20193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1A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81300" y="1295400"/>
            <a:ext cx="2019300" cy="4762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>
                <a:solidFill>
                  <a:srgbClr val="C8A45C"/>
                </a:solidFill>
                <a:latin typeface="Liter"/>
              </a:rPr>
              <a:t>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81300" y="1771650"/>
            <a:ext cx="2019300" cy="2476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0F1B2D"/>
                </a:solidFill>
                <a:latin typeface="MiSans"/>
              </a:rPr>
              <a:t>Measurable 可衡量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76550" y="2057400"/>
            <a:ext cx="1828800" cy="6477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1E293B"/>
                </a:solidFill>
                <a:latin typeface="MiSans"/>
              </a:rPr>
              <a:t>量化评估指标与评分标准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91100" y="1257300"/>
            <a:ext cx="20193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1A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91100" y="1295400"/>
            <a:ext cx="2019300" cy="4762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>
                <a:solidFill>
                  <a:srgbClr val="C8A45C"/>
                </a:solidFill>
                <a:latin typeface="Liter"/>
              </a:rPr>
              <a:t>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91100" y="1771650"/>
            <a:ext cx="2019300" cy="2476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0F1B2D"/>
                </a:solidFill>
                <a:latin typeface="MiSans"/>
              </a:rPr>
              <a:t>Achievable 可达成的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86350" y="2057400"/>
            <a:ext cx="1828800" cy="6477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1E293B"/>
                </a:solidFill>
                <a:latin typeface="MiSans"/>
              </a:rPr>
              <a:t>基于评估数据的合理期望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00900" y="1257300"/>
            <a:ext cx="20193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1A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00900" y="1295400"/>
            <a:ext cx="2019300" cy="4762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>
                <a:solidFill>
                  <a:srgbClr val="C8A45C"/>
                </a:solidFill>
                <a:latin typeface="Liter"/>
              </a:rPr>
              <a:t>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00900" y="1771650"/>
            <a:ext cx="2019300" cy="2476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0F1B2D"/>
                </a:solidFill>
                <a:latin typeface="MiSans"/>
              </a:rPr>
              <a:t>Relevant 相关的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150" y="2057400"/>
            <a:ext cx="1828800" cy="6477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1E293B"/>
                </a:solidFill>
                <a:latin typeface="MiSans"/>
              </a:rPr>
              <a:t>与7大领域能力发展相关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0700" y="1257300"/>
            <a:ext cx="22098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1A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410700" y="1295400"/>
            <a:ext cx="2209800" cy="4762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>
                <a:solidFill>
                  <a:srgbClr val="C8A45C"/>
                </a:solidFill>
                <a:latin typeface="Liter"/>
              </a:rPr>
              <a:t>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10700" y="1771650"/>
            <a:ext cx="2209800" cy="2476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0F1B2D"/>
                </a:solidFill>
                <a:latin typeface="MiSans"/>
              </a:rPr>
              <a:t>Time-bound 有时限的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05950" y="2057400"/>
            <a:ext cx="2019300" cy="6477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1E293B"/>
                </a:solidFill>
                <a:latin typeface="MiSans"/>
              </a:rPr>
              <a:t>明确起止日期与里程碑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1500" y="2952750"/>
            <a:ext cx="11049000" cy="9525"/>
          </a:xfrm>
          <a:prstGeom prst="rect">
            <a:avLst/>
          </a:prstGeom>
          <a:solidFill>
            <a:srgbClr val="C1A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71500" y="3086100"/>
            <a:ext cx="38100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405680"/>
                </a:solidFill>
                <a:latin typeface="MiSans"/>
              </a:rPr>
              <a:t>教学记录核心功能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1500" y="3467100"/>
            <a:ext cx="3429000" cy="952500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43000" y="3581400"/>
            <a:ext cx="2705100" cy="762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>
                <a:solidFill>
                  <a:srgbClr val="1E293B"/>
                </a:solidFill>
                <a:latin typeface="MiSans"/>
              </a:rPr>
              <a:t>日历视图</a:t>
            </a:r>
          </a:p>
          <a:p>
            <a:pPr algn="l"/>
            <a:r>
              <a:rPr sz="1600">
                <a:solidFill>
                  <a:srgbClr val="1E293B"/>
                </a:solidFill>
                <a:latin typeface="MiSans"/>
              </a:rPr>
              <a:t>一目了然查看每日教学记录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91000" y="3467100"/>
            <a:ext cx="3429000" cy="952500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762500" y="3581400"/>
            <a:ext cx="2705100" cy="762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>
                <a:solidFill>
                  <a:srgbClr val="1E293B"/>
                </a:solidFill>
                <a:latin typeface="MiSans"/>
              </a:rPr>
              <a:t>快速记录</a:t>
            </a:r>
          </a:p>
          <a:p>
            <a:pPr algn="l"/>
            <a:r>
              <a:rPr sz="1600">
                <a:solidFill>
                  <a:srgbClr val="1E293B"/>
                </a:solidFill>
                <a:latin typeface="MiSans"/>
              </a:rPr>
              <a:t>3步完成一次教学进展录入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10500" y="3467100"/>
            <a:ext cx="3810000" cy="952500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382000" y="3581400"/>
            <a:ext cx="3086100" cy="762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>
                <a:solidFill>
                  <a:srgbClr val="1E293B"/>
                </a:solidFill>
                <a:latin typeface="MiSans"/>
              </a:rPr>
              <a:t>目标关联与进度追踪</a:t>
            </a:r>
          </a:p>
          <a:p>
            <a:pPr algn="l"/>
            <a:r>
              <a:rPr sz="1600">
                <a:solidFill>
                  <a:srgbClr val="1E293B"/>
                </a:solidFill>
                <a:latin typeface="MiSans"/>
              </a:rPr>
              <a:t>每条记录自动关联IEP目标，自动生成完成度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1500" y="4762500"/>
            <a:ext cx="11049000" cy="381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i="1">
                <a:solidFill>
                  <a:srgbClr val="0F1B2D"/>
                </a:solidFill>
                <a:latin typeface="MiSans"/>
              </a:rPr>
              <a:t>从"凭感觉"到"看数据"，特殊教育进入精准教学时代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90500"/>
            <a:ext cx="11430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64748B"/>
                </a:solidFill>
                <a:latin typeface="MiSans"/>
              </a:rPr>
              <a:t>启智IEP</a:t>
            </a:r>
          </a:p>
        </p:txBody>
      </p:sp>
      <p:sp>
        <p:nvSpPr>
          <p:cNvPr id="4" name="Rectangle 3"/>
          <p:cNvSpPr/>
          <p:nvPr/>
        </p:nvSpPr>
        <p:spPr>
          <a:xfrm>
            <a:off x="11049000" y="6572250"/>
            <a:ext cx="5715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1400">
                <a:solidFill>
                  <a:srgbClr val="94A3B8"/>
                </a:solidFill>
                <a:latin typeface="MiSans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476250"/>
            <a:ext cx="85725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200">
                <a:solidFill>
                  <a:srgbClr val="0F1B2D"/>
                </a:solidFill>
                <a:latin typeface="Liter"/>
              </a:rPr>
              <a:t>家校协作零距离 · Canvas电子签名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1009650"/>
            <a:ext cx="571500" cy="28575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1181100"/>
            <a:ext cx="2857500" cy="2667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405680"/>
                </a:solidFill>
                <a:latin typeface="MiSans"/>
              </a:rPr>
              <a:t>家校协作6步流程</a:t>
            </a:r>
          </a:p>
        </p:txBody>
      </p:sp>
      <p:sp>
        <p:nvSpPr>
          <p:cNvPr id="8" name="Oval 7"/>
          <p:cNvSpPr/>
          <p:nvPr/>
        </p:nvSpPr>
        <p:spPr>
          <a:xfrm>
            <a:off x="723900" y="1619250"/>
            <a:ext cx="342900" cy="342900"/>
          </a:xfrm>
          <a:prstGeom prst="ellipse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23900" y="1619250"/>
            <a:ext cx="342900" cy="342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FFFFFF"/>
                </a:solidFill>
                <a:latin typeface="Liter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1100" y="1619250"/>
            <a:ext cx="2476500" cy="342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>
                <a:solidFill>
                  <a:srgbClr val="1E293B"/>
                </a:solidFill>
                <a:latin typeface="MiSans"/>
              </a:rPr>
              <a:t>IEP制定完成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5350" y="1962150"/>
            <a:ext cx="0" cy="1714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23900" y="2133600"/>
            <a:ext cx="342900" cy="342900"/>
          </a:xfrm>
          <a:prstGeom prst="ellipse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23900" y="2133600"/>
            <a:ext cx="342900" cy="342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FFFFFF"/>
                </a:solidFill>
                <a:latin typeface="Liter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81100" y="2133600"/>
            <a:ext cx="2667000" cy="342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>
                <a:solidFill>
                  <a:srgbClr val="1E293B"/>
                </a:solidFill>
                <a:latin typeface="MiSans"/>
              </a:rPr>
              <a:t>系统自动推送家长通知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5350" y="2476500"/>
            <a:ext cx="0" cy="1714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3900" y="2647950"/>
            <a:ext cx="342900" cy="342900"/>
          </a:xfrm>
          <a:prstGeom prst="ellipse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3900" y="2647950"/>
            <a:ext cx="342900" cy="342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FFFFFF"/>
                </a:solidFill>
                <a:latin typeface="Liter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81100" y="2647950"/>
            <a:ext cx="2667000" cy="342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>
                <a:solidFill>
                  <a:srgbClr val="1E293B"/>
                </a:solidFill>
                <a:latin typeface="MiSans"/>
              </a:rPr>
              <a:t>家长登录查看IEP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5350" y="2990850"/>
            <a:ext cx="0" cy="1714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23900" y="3162300"/>
            <a:ext cx="342900" cy="342900"/>
          </a:xfrm>
          <a:prstGeom prst="ellipse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3900" y="3162300"/>
            <a:ext cx="342900" cy="342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FFFFFF"/>
                </a:solidFill>
                <a:latin typeface="Liter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81100" y="3162300"/>
            <a:ext cx="2667000" cy="342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>
                <a:solidFill>
                  <a:srgbClr val="1E293B"/>
                </a:solidFill>
                <a:latin typeface="MiSans"/>
              </a:rPr>
              <a:t>在线讨论沟通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5350" y="3505200"/>
            <a:ext cx="0" cy="1714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23900" y="3676650"/>
            <a:ext cx="342900" cy="342900"/>
          </a:xfrm>
          <a:prstGeom prst="ellipse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3900" y="3676650"/>
            <a:ext cx="342900" cy="342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FFFFFF"/>
                </a:solidFill>
                <a:latin typeface="Liter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81100" y="3676650"/>
            <a:ext cx="2667000" cy="342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>
                <a:solidFill>
                  <a:srgbClr val="1E293B"/>
                </a:solidFill>
                <a:latin typeface="MiSans"/>
              </a:rPr>
              <a:t>Canvas电子签名确认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5350" y="4019550"/>
            <a:ext cx="0" cy="1714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23900" y="4191000"/>
            <a:ext cx="342900" cy="342900"/>
          </a:xfrm>
          <a:prstGeom prst="ellipse">
            <a:avLst/>
          </a:prstGeom>
          <a:solidFill>
            <a:srgbClr val="0D8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3900" y="4191000"/>
            <a:ext cx="342900" cy="342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FFFFFF"/>
                </a:solidFill>
                <a:latin typeface="Liter"/>
              </a:rPr>
              <a:t>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81100" y="4191000"/>
            <a:ext cx="2667000" cy="342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>
                <a:solidFill>
                  <a:srgbClr val="1E293B"/>
                </a:solidFill>
                <a:latin typeface="MiSans"/>
              </a:rPr>
              <a:t>IEP进入执行状态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62500" y="1181100"/>
            <a:ext cx="3810000" cy="2667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405680"/>
                </a:solidFill>
                <a:latin typeface="MiSans"/>
              </a:rPr>
              <a:t>电子签名技术特点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62500" y="1524000"/>
            <a:ext cx="6858000" cy="3143250"/>
          </a:xfrm>
          <a:prstGeom prst="rect">
            <a:avLst/>
          </a:prstGeom>
          <a:solidFill>
            <a:srgbClr val="FFFFFF"/>
          </a:solidFill>
          <a:ln w="12700">
            <a:solidFill>
              <a:srgbClr val="C1A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72100" y="1676400"/>
            <a:ext cx="6057900" cy="571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>
                <a:solidFill>
                  <a:srgbClr val="1E293B"/>
                </a:solidFill>
                <a:latin typeface="MiSans"/>
              </a:rPr>
              <a:t>Canvas手写签名</a:t>
            </a:r>
          </a:p>
          <a:p>
            <a:pPr algn="l"/>
            <a:r>
              <a:rPr sz="1600">
                <a:solidFill>
                  <a:srgbClr val="1E293B"/>
                </a:solidFill>
                <a:latin typeface="MiSans"/>
              </a:rPr>
              <a:t>法律效力等同纸质签名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72100" y="2343150"/>
            <a:ext cx="6057900" cy="571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>
                <a:solidFill>
                  <a:srgbClr val="1E293B"/>
                </a:solidFill>
                <a:latin typeface="MiSans"/>
              </a:rPr>
              <a:t>签名数据与IEP绑定</a:t>
            </a:r>
          </a:p>
          <a:p>
            <a:pPr algn="l"/>
            <a:r>
              <a:rPr sz="1600">
                <a:solidFill>
                  <a:srgbClr val="1E293B"/>
                </a:solidFill>
                <a:latin typeface="MiSans"/>
              </a:rPr>
              <a:t>不可篡改，防抵赖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72100" y="3009900"/>
            <a:ext cx="6057900" cy="571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>
                <a:solidFill>
                  <a:srgbClr val="1E293B"/>
                </a:solidFill>
                <a:latin typeface="MiSans"/>
              </a:rPr>
              <a:t>签名历史追溯</a:t>
            </a:r>
          </a:p>
          <a:p>
            <a:pPr algn="l"/>
            <a:r>
              <a:rPr sz="1600">
                <a:solidFill>
                  <a:srgbClr val="1E293B"/>
                </a:solidFill>
                <a:latin typeface="MiSans"/>
              </a:rPr>
              <a:t>每次签名留痕， Rights to Review 充分保障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72100" y="3676650"/>
            <a:ext cx="6057900" cy="571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>
                <a:solidFill>
                  <a:srgbClr val="1E293B"/>
                </a:solidFill>
                <a:latin typeface="MiSans"/>
              </a:rPr>
              <a:t>家长随时查看已签名IEP</a:t>
            </a:r>
          </a:p>
          <a:p>
            <a:pPr algn="l"/>
            <a:r>
              <a:rPr sz="1600">
                <a:solidFill>
                  <a:srgbClr val="1E293B"/>
                </a:solidFill>
                <a:latin typeface="MiSans"/>
              </a:rPr>
              <a:t>充分知情权，家长全程参与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1500" y="4953000"/>
            <a:ext cx="11049000" cy="9525"/>
          </a:xfrm>
          <a:prstGeom prst="rect">
            <a:avLst/>
          </a:prstGeom>
          <a:solidFill>
            <a:srgbClr val="C1A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71500" y="5143500"/>
            <a:ext cx="3238500" cy="571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800">
                <a:solidFill>
                  <a:srgbClr val="C8A45C"/>
                </a:solidFill>
                <a:latin typeface="Liter"/>
              </a:rPr>
              <a:t>80%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1500" y="5715000"/>
            <a:ext cx="32385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1E293B"/>
                </a:solidFill>
                <a:latin typeface="MiSans"/>
              </a:rPr>
              <a:t>家校沟通响应时间缩短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91000" y="5143500"/>
            <a:ext cx="3238500" cy="571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800">
                <a:solidFill>
                  <a:srgbClr val="C8A45C"/>
                </a:solidFill>
                <a:latin typeface="Liter"/>
              </a:rPr>
              <a:t>1天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91000" y="5715000"/>
            <a:ext cx="32385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1E293B"/>
                </a:solidFill>
                <a:latin typeface="MiSans"/>
              </a:rPr>
              <a:t>IEP签名流程（原7天）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10500" y="5143500"/>
            <a:ext cx="3810000" cy="571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800">
                <a:solidFill>
                  <a:srgbClr val="C8A45C"/>
                </a:solidFill>
                <a:latin typeface="Liter"/>
              </a:rPr>
              <a:t>60%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10500" y="5715000"/>
            <a:ext cx="38100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1E293B"/>
                </a:solidFill>
                <a:latin typeface="MiSans"/>
              </a:rPr>
              <a:t>家长满意度提升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90500"/>
            <a:ext cx="11430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94A3B8"/>
                </a:solidFill>
                <a:latin typeface="MiSans"/>
              </a:rPr>
              <a:t>启智IEP</a:t>
            </a:r>
          </a:p>
        </p:txBody>
      </p:sp>
      <p:sp>
        <p:nvSpPr>
          <p:cNvPr id="4" name="Rectangle 3"/>
          <p:cNvSpPr/>
          <p:nvPr/>
        </p:nvSpPr>
        <p:spPr>
          <a:xfrm>
            <a:off x="11049000" y="6572250"/>
            <a:ext cx="5715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1400">
                <a:solidFill>
                  <a:srgbClr val="94A3B8"/>
                </a:solidFill>
                <a:latin typeface="MiSans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476250"/>
            <a:ext cx="85725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200">
                <a:solidFill>
                  <a:srgbClr val="FFFFFF"/>
                </a:solidFill>
                <a:latin typeface="Liter"/>
              </a:rPr>
              <a:t>现代技术架构 · 全链路安全保障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1009650"/>
            <a:ext cx="571500" cy="28575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1181100"/>
            <a:ext cx="2857500" cy="2667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C8A45C"/>
                </a:solidFill>
                <a:latin typeface="MiSans"/>
              </a:rPr>
              <a:t>技术栈分层架构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1543050"/>
            <a:ext cx="5143500" cy="590550"/>
          </a:xfrm>
          <a:prstGeom prst="rect">
            <a:avLst/>
          </a:prstGeom>
          <a:solidFill>
            <a:srgbClr val="1A2B47"/>
          </a:solidFill>
          <a:ln w="12700">
            <a:solidFill>
              <a:srgbClr val="405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1543050"/>
            <a:ext cx="47625" cy="590550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000" y="1581150"/>
            <a:ext cx="123825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>
                <a:solidFill>
                  <a:srgbClr val="C8A45C"/>
                </a:solidFill>
                <a:latin typeface="MiSans"/>
              </a:rPr>
              <a:t>前端层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1828800"/>
            <a:ext cx="47625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CBD5E1"/>
                </a:solidFill>
                <a:latin typeface="MiSans"/>
              </a:rPr>
              <a:t>React 19 + TypeScript + Tailwind CSS + shadcn/ui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2209800"/>
            <a:ext cx="5143500" cy="590550"/>
          </a:xfrm>
          <a:prstGeom prst="rect">
            <a:avLst/>
          </a:prstGeom>
          <a:solidFill>
            <a:srgbClr val="1A2B47"/>
          </a:solidFill>
          <a:ln w="12700">
            <a:solidFill>
              <a:srgbClr val="405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" y="2209800"/>
            <a:ext cx="47625" cy="590550"/>
          </a:xfrm>
          <a:prstGeom prst="rect">
            <a:avLst/>
          </a:prstGeom>
          <a:solidFill>
            <a:srgbClr val="405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2000" y="2247900"/>
            <a:ext cx="123825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>
                <a:solidFill>
                  <a:srgbClr val="C8A45C"/>
                </a:solidFill>
                <a:latin typeface="MiSans"/>
              </a:rPr>
              <a:t>API层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2495550"/>
            <a:ext cx="47625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CBD5E1"/>
                </a:solidFill>
                <a:latin typeface="MiSans"/>
              </a:rPr>
              <a:t>RESTful API + JWT Token认证 + 接口限流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2876550"/>
            <a:ext cx="5143500" cy="590550"/>
          </a:xfrm>
          <a:prstGeom prst="rect">
            <a:avLst/>
          </a:prstGeom>
          <a:solidFill>
            <a:srgbClr val="1A2B47"/>
          </a:solidFill>
          <a:ln w="12700">
            <a:solidFill>
              <a:srgbClr val="405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" y="2876550"/>
            <a:ext cx="47625" cy="590550"/>
          </a:xfrm>
          <a:prstGeom prst="rect">
            <a:avLst/>
          </a:prstGeom>
          <a:solidFill>
            <a:srgbClr val="405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2000" y="2914650"/>
            <a:ext cx="123825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>
                <a:solidFill>
                  <a:srgbClr val="C8A45C"/>
                </a:solidFill>
                <a:latin typeface="MiSans"/>
              </a:rPr>
              <a:t>后端层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2000" y="3162300"/>
            <a:ext cx="47625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CBD5E1"/>
                </a:solidFill>
                <a:latin typeface="MiSans"/>
              </a:rPr>
              <a:t>PHP 8.x + MySQL 8.0 + 数据权限中间件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3543300"/>
            <a:ext cx="5143500" cy="590550"/>
          </a:xfrm>
          <a:prstGeom prst="rect">
            <a:avLst/>
          </a:prstGeom>
          <a:solidFill>
            <a:srgbClr val="1A2B47"/>
          </a:solidFill>
          <a:ln w="12700">
            <a:solidFill>
              <a:srgbClr val="405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1500" y="3543300"/>
            <a:ext cx="47625" cy="590550"/>
          </a:xfrm>
          <a:prstGeom prst="rect">
            <a:avLst/>
          </a:prstGeom>
          <a:solidFill>
            <a:srgbClr val="0D8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2000" y="3581400"/>
            <a:ext cx="123825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>
                <a:solidFill>
                  <a:srgbClr val="C8A45C"/>
                </a:solidFill>
                <a:latin typeface="MiSans"/>
              </a:rPr>
              <a:t>基础设施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2000" y="3829050"/>
            <a:ext cx="47625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CBD5E1"/>
                </a:solidFill>
                <a:latin typeface="MiSans"/>
              </a:rPr>
              <a:t>HTTPS全链路加密 + 操作审计日志 + 数据备份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86500" y="1181100"/>
            <a:ext cx="3810000" cy="2667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C8A45C"/>
                </a:solidFill>
                <a:latin typeface="MiSans"/>
              </a:rPr>
              <a:t>安全保障体系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86500" y="1543050"/>
            <a:ext cx="5334000" cy="723900"/>
          </a:xfrm>
          <a:prstGeom prst="rect">
            <a:avLst/>
          </a:prstGeom>
          <a:solidFill>
            <a:srgbClr val="1A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0" y="1600200"/>
            <a:ext cx="4572000" cy="609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>
                <a:solidFill>
                  <a:srgbClr val="FFFFFF"/>
                </a:solidFill>
                <a:latin typeface="MiSans"/>
              </a:rPr>
              <a:t>认证安全</a:t>
            </a:r>
          </a:p>
          <a:p>
            <a:pPr algn="l"/>
            <a:r>
              <a:rPr sz="1500">
                <a:solidFill>
                  <a:srgbClr val="FFFFFF"/>
                </a:solidFill>
                <a:latin typeface="MiSans"/>
              </a:rPr>
              <a:t>JWT双Token机制，自动过期刷新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86500" y="2209800"/>
            <a:ext cx="5334000" cy="723900"/>
          </a:xfrm>
          <a:prstGeom prst="rect">
            <a:avLst/>
          </a:prstGeom>
          <a:solidFill>
            <a:srgbClr val="1A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0" y="2266950"/>
            <a:ext cx="4572000" cy="609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>
                <a:solidFill>
                  <a:srgbClr val="FFFFFF"/>
                </a:solidFill>
                <a:latin typeface="MiSans"/>
              </a:rPr>
              <a:t>数据安全</a:t>
            </a:r>
          </a:p>
          <a:p>
            <a:pPr algn="l"/>
            <a:r>
              <a:rPr sz="1500">
                <a:solidFill>
                  <a:srgbClr val="FFFFFF"/>
                </a:solidFill>
                <a:latin typeface="MiSans"/>
              </a:rPr>
              <a:t>5级权限隔离 + SQL注入防护 + XSS防护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86500" y="2876550"/>
            <a:ext cx="5334000" cy="723900"/>
          </a:xfrm>
          <a:prstGeom prst="rect">
            <a:avLst/>
          </a:prstGeom>
          <a:solidFill>
            <a:srgbClr val="1A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0" y="2933700"/>
            <a:ext cx="4572000" cy="609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>
                <a:solidFill>
                  <a:srgbClr val="FFFFFF"/>
                </a:solidFill>
                <a:latin typeface="MiSans"/>
              </a:rPr>
              <a:t>审计安全</a:t>
            </a:r>
          </a:p>
          <a:p>
            <a:pPr algn="l"/>
            <a:r>
              <a:rPr sz="1500">
                <a:solidFill>
                  <a:srgbClr val="FFFFFF"/>
                </a:solidFill>
                <a:latin typeface="MiSans"/>
              </a:rPr>
              <a:t>完整操作日志：谁/何时/做了什么/操作了谁的数据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86500" y="3543300"/>
            <a:ext cx="5334000" cy="723900"/>
          </a:xfrm>
          <a:prstGeom prst="rect">
            <a:avLst/>
          </a:prstGeom>
          <a:solidFill>
            <a:srgbClr val="1A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0" y="3600450"/>
            <a:ext cx="4572000" cy="609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>
                <a:solidFill>
                  <a:srgbClr val="FFFFFF"/>
                </a:solidFill>
                <a:latin typeface="MiSans"/>
              </a:rPr>
              <a:t>合规安全</a:t>
            </a:r>
          </a:p>
          <a:p>
            <a:pPr algn="l"/>
            <a:r>
              <a:rPr sz="1500">
                <a:solidFill>
                  <a:srgbClr val="FFFFFF"/>
                </a:solidFill>
                <a:latin typeface="MiSans"/>
              </a:rPr>
              <a:t>符合《个人信息保护法》《残疾人教育条例》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1500" y="4476750"/>
            <a:ext cx="11049000" cy="9525"/>
          </a:xfrm>
          <a:prstGeom prst="rect">
            <a:avLst/>
          </a:prstGeom>
          <a:solidFill>
            <a:srgbClr val="405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71500" y="4667250"/>
            <a:ext cx="11049000" cy="381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>
                <a:solidFill>
                  <a:srgbClr val="FFFFFF"/>
                </a:solidFill>
                <a:latin typeface="MiSans"/>
              </a:rPr>
              <a:t>技术为特殊教育服务，安全为学生成长护航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1500" y="5295900"/>
            <a:ext cx="11049000" cy="762000"/>
          </a:xfrm>
          <a:prstGeom prst="rect">
            <a:avLst/>
          </a:prstGeom>
          <a:solidFill>
            <a:srgbClr val="1A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62000" y="5372100"/>
            <a:ext cx="10668000" cy="609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CBD5E1"/>
                </a:solidFill>
                <a:latin typeface="MiSans"/>
              </a:rPr>
              <a:t>React 19 + TypeScript + PHP 8.x 前后端分离架构</a:t>
            </a:r>
          </a:p>
          <a:p>
            <a:pPr algn="ctr"/>
            <a:r>
              <a:rPr sz="1600">
                <a:solidFill>
                  <a:srgbClr val="CBD5E1"/>
                </a:solidFill>
                <a:latin typeface="MiSans"/>
              </a:rPr>
              <a:t>数据权限中间件贯穿全链路，每个请求自动校验权限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90500"/>
            <a:ext cx="11430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64748B"/>
                </a:solidFill>
                <a:latin typeface="MiSans"/>
              </a:rPr>
              <a:t>启智IEP</a:t>
            </a:r>
          </a:p>
        </p:txBody>
      </p:sp>
      <p:sp>
        <p:nvSpPr>
          <p:cNvPr id="4" name="Rectangle 3"/>
          <p:cNvSpPr/>
          <p:nvPr/>
        </p:nvSpPr>
        <p:spPr>
          <a:xfrm>
            <a:off x="11049000" y="6572250"/>
            <a:ext cx="5715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1400">
                <a:solidFill>
                  <a:srgbClr val="94A3B8"/>
                </a:solidFill>
                <a:latin typeface="MiSans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476250"/>
            <a:ext cx="85725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200">
                <a:solidFill>
                  <a:srgbClr val="0F1B2D"/>
                </a:solidFill>
                <a:latin typeface="Liter"/>
              </a:rPr>
              <a:t>启智IEP带来的核心价值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1009650"/>
            <a:ext cx="571500" cy="28575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1238250"/>
            <a:ext cx="5381625" cy="1409700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1100" y="1390650"/>
            <a:ext cx="1905000" cy="304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>
                <a:solidFill>
                  <a:srgbClr val="405680"/>
                </a:solidFill>
                <a:latin typeface="MiSans"/>
              </a:rPr>
              <a:t>管理效率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100" y="1771650"/>
            <a:ext cx="1714500" cy="342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200">
                <a:solidFill>
                  <a:srgbClr val="C8A45C"/>
                </a:solidFill>
                <a:latin typeface="Liter"/>
              </a:rPr>
              <a:t>70%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1771650"/>
            <a:ext cx="3190875" cy="5238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1E293B"/>
                </a:solidFill>
                <a:latin typeface="MiSans"/>
              </a:rPr>
              <a:t>IEP制定时间缩短，档案查找缩短90%，审批流程缩短80%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43625" y="1238250"/>
            <a:ext cx="5476875" cy="1409700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53225" y="1390650"/>
            <a:ext cx="1905000" cy="304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>
                <a:solidFill>
                  <a:srgbClr val="405680"/>
                </a:solidFill>
                <a:latin typeface="MiSans"/>
              </a:rPr>
              <a:t>教学质量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72225" y="1771650"/>
            <a:ext cx="1714500" cy="342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200">
                <a:solidFill>
                  <a:srgbClr val="C8A45C"/>
                </a:solidFill>
                <a:latin typeface="Liter"/>
              </a:rPr>
              <a:t>7大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43875" y="1771650"/>
            <a:ext cx="3286125" cy="5238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1E293B"/>
                </a:solidFill>
                <a:latin typeface="MiSans"/>
              </a:rPr>
              <a:t>领域量化评估，SMART目标精准追踪，数据驱动教学决策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2781300"/>
            <a:ext cx="5381625" cy="1409700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81100" y="2933700"/>
            <a:ext cx="1905000" cy="304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>
                <a:solidFill>
                  <a:srgbClr val="405680"/>
                </a:solidFill>
                <a:latin typeface="MiSans"/>
              </a:rPr>
              <a:t>数据安全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" y="3314700"/>
            <a:ext cx="1714500" cy="342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200">
                <a:solidFill>
                  <a:srgbClr val="C8A45C"/>
                </a:solidFill>
                <a:latin typeface="Liter"/>
              </a:rPr>
              <a:t>5级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3314700"/>
            <a:ext cx="3190875" cy="342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1E293B"/>
                </a:solidFill>
                <a:latin typeface="MiSans"/>
              </a:rPr>
              <a:t>权限隔离体系，零数据泄露事件，100%操作可追溯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3625" y="2781300"/>
            <a:ext cx="5476875" cy="1409700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53225" y="2933700"/>
            <a:ext cx="1905000" cy="304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>
                <a:solidFill>
                  <a:srgbClr val="405680"/>
                </a:solidFill>
                <a:latin typeface="MiSans"/>
              </a:rPr>
              <a:t>家校共育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72225" y="3314700"/>
            <a:ext cx="1714500" cy="342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200">
                <a:solidFill>
                  <a:srgbClr val="C8A45C"/>
                </a:solidFill>
                <a:latin typeface="Liter"/>
              </a:rPr>
              <a:t>1天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43875" y="3314700"/>
            <a:ext cx="3286125" cy="5238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1E293B"/>
                </a:solidFill>
                <a:latin typeface="MiSans"/>
              </a:rPr>
              <a:t>电子签名当天完成，家长实时掌握进展，家校协作无缝衔接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1500" y="4400550"/>
            <a:ext cx="11049000" cy="9525"/>
          </a:xfrm>
          <a:prstGeom prst="rect">
            <a:avLst/>
          </a:prstGeom>
          <a:solidFill>
            <a:srgbClr val="C1A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71500" y="4552950"/>
            <a:ext cx="1905000" cy="2667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405680"/>
                </a:solidFill>
                <a:latin typeface="MiSans"/>
              </a:rPr>
              <a:t>传统 vs 启智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500" y="4895850"/>
            <a:ext cx="5334000" cy="419100"/>
          </a:xfrm>
          <a:prstGeom prst="rect">
            <a:avLst/>
          </a:prstGeom>
          <a:solidFill>
            <a:srgbClr val="C1A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2000" y="4895850"/>
            <a:ext cx="4953000" cy="4191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>
                <a:solidFill>
                  <a:srgbClr val="1E293B"/>
                </a:solidFill>
                <a:latin typeface="MiSans"/>
              </a:rPr>
              <a:t>传统IEP：纸质化 / 经验化 / 碎片化 / 低效化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86500" y="4895850"/>
            <a:ext cx="5334000" cy="4191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77000" y="4895850"/>
            <a:ext cx="4953000" cy="4191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>
                <a:solidFill>
                  <a:srgbClr val="FFFFFF"/>
                </a:solidFill>
                <a:latin typeface="MiSans"/>
              </a:rPr>
              <a:t>启智IEP：数字化 / 数据化 / 一体化 / 智能化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1500" y="5581650"/>
            <a:ext cx="11049000" cy="381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i="1">
                <a:solidFill>
                  <a:srgbClr val="0F1B2D"/>
                </a:solidFill>
                <a:latin typeface="MiSans"/>
              </a:rPr>
              <a:t>这不是一次系统升级，而是一场特殊教育管理的范式革命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_Special_Education_Teachers_Have_Challeng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33500" y="1714500"/>
            <a:ext cx="9525000" cy="12858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>
                <a:solidFill>
                  <a:srgbClr val="FFFFFF"/>
                </a:solidFill>
                <a:latin typeface="MiSans"/>
              </a:rPr>
              <a:t>让每一位特殊学生，</a:t>
            </a:r>
          </a:p>
          <a:p>
            <a:pPr algn="ctr"/>
            <a:r>
              <a:rPr sz="3600">
                <a:solidFill>
                  <a:srgbClr val="FFFFFF"/>
                </a:solidFill>
                <a:latin typeface="MiSans"/>
              </a:rPr>
              <a:t>都获得最适合自己的教育</a:t>
            </a:r>
          </a:p>
        </p:txBody>
      </p:sp>
      <p:sp>
        <p:nvSpPr>
          <p:cNvPr id="5" name="Rectangle 4"/>
          <p:cNvSpPr/>
          <p:nvPr/>
        </p:nvSpPr>
        <p:spPr>
          <a:xfrm>
            <a:off x="5619750" y="3095625"/>
            <a:ext cx="952500" cy="28575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0" y="3143250"/>
            <a:ext cx="2095500" cy="381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>
                <a:solidFill>
                  <a:srgbClr val="C8A45C"/>
                </a:solidFill>
                <a:latin typeface="MiSans"/>
              </a:rPr>
              <a:t>国际标准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1500" y="314325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>
                <a:solidFill>
                  <a:srgbClr val="94A3B8"/>
                </a:solidFill>
                <a:latin typeface="MiSans"/>
              </a:rPr>
              <a:t>|</a:t>
            </a:r>
          </a:p>
        </p:txBody>
      </p:sp>
      <p:sp>
        <p:nvSpPr>
          <p:cNvPr id="8" name="Rectangle 7"/>
          <p:cNvSpPr/>
          <p:nvPr/>
        </p:nvSpPr>
        <p:spPr>
          <a:xfrm>
            <a:off x="4762500" y="3143250"/>
            <a:ext cx="2095500" cy="381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>
                <a:solidFill>
                  <a:srgbClr val="C8A45C"/>
                </a:solidFill>
                <a:latin typeface="MiSans"/>
              </a:rPr>
              <a:t>安全至上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314325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>
                <a:solidFill>
                  <a:srgbClr val="94A3B8"/>
                </a:solidFill>
                <a:latin typeface="MiSans"/>
              </a:rPr>
              <a:t>|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39000" y="3143250"/>
            <a:ext cx="2667000" cy="381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>
                <a:solidFill>
                  <a:srgbClr val="C8A45C"/>
                </a:solidFill>
                <a:latin typeface="MiSans"/>
              </a:rPr>
              <a:t>数据驱动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8500" y="3810000"/>
            <a:ext cx="5715000" cy="12954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3886200"/>
            <a:ext cx="5334000" cy="1143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CBD5E1"/>
                </a:solidFill>
                <a:latin typeface="MiSans"/>
              </a:rPr>
              <a:t>产品咨询：contact@qizhi-iep.com</a:t>
            </a:r>
          </a:p>
          <a:p>
            <a:pPr algn="ctr"/>
            <a:r>
              <a:rPr sz="1600">
                <a:solidFill>
                  <a:srgbClr val="CBD5E1"/>
                </a:solidFill>
                <a:latin typeface="MiSans"/>
              </a:rPr>
              <a:t>预约演示：demo@qizhi-iep.com</a:t>
            </a:r>
          </a:p>
          <a:p>
            <a:pPr algn="ctr"/>
            <a:r>
              <a:rPr sz="1600">
                <a:solidFill>
                  <a:srgbClr val="CBD5E1"/>
                </a:solidFill>
                <a:latin typeface="MiSans"/>
              </a:rPr>
              <a:t>官方网站：www.qizhi-iep.com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91000" y="5238750"/>
            <a:ext cx="3810000" cy="9525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0" y="5429250"/>
            <a:ext cx="7620000" cy="342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>
                <a:solidFill>
                  <a:srgbClr val="94A3B8"/>
                </a:solidFill>
                <a:latin typeface="MiSans"/>
              </a:rPr>
              <a:t>启智IEP管理系统 —— 特殊教育数字化的领航者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